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from the launch kit §1: the edited record of U.S. diplomacy, on your device, with tools built on its editors' work.</a:t>
            </a:r>
          </a:p>
          <a:p/>
          <a:p>
            <a:r>
              <a:t>The 105-word pitch: FRUS Explorer is a research tool for the Foreign Relations of the United States series, the State Department's documentary record of American foreign policy, published since 1861 and edited today by historians in the Office of the Historian. It downloads the Office's TEI editions, indexes them on your iPhone, iPad or Mac, and works offline. Its tools are built on the editors' apparatus: source notes resolved to the shelf, cross-references drawn as a graph, and the people and dates the editors identified made searchable. It is an independent project, not an official product of the Office of the Historian or the U.S. Department of State.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553 volumes (manifest.json entry count); published since 1861 (earliest publicationDate); 107 subseries (distinct subseries in the manifest); about 317,000 documents (316,814 at index v63, said with 'about'). Never say 'every document': a full index holds 316,814 and the map places 314,616.</a:t>
            </a:r>
          </a:p>
          <a:p/>
          <a:p>
            <a:r>
              <a:t>The statute quotation and the editors' method are from the series' own prefaces (Foreign Relations 1969–1976, vol. E–9, part 1, 'Editorial Methodology'). Speak about the series' method, never for the Office.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 rule from the kit: plain, concrete, second person, with the research vocabulary the audience already has. No exclamation marks. A headline is a verb phrase or a claim; a subline says what the frame shows and one honest limit.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kit §1, 'Three proof points, each with its screen'. The screens: Search with the Facets inspector (Mac), Source Explorer (iPad), the semantic map (iPad).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 §1a. Rules: name the element, then the feature; credit the note to the editors and the reading to the app; keep the layers apart (FRUS text, joined, computed); speak about the series' method, never for the Office; mind the eras; never 'curated', 'annotated' or 'organized by FRUS Explorer'.</a:t>
            </a:r>
          </a:p>
          <a:p/>
          <a:p>
            <a:r>
              <a:t>Figures this theme may quote: 264,598 source notes paired with a document, in 502 of 553 volumes; 8,637 cross-volume citations into 5,747 documents from 185 volumes; 81 volumes published 1861–1922 whose header names no editor.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history.state.gov: it is the Office's own edition of the series and its search, and every document and citation in the app links back to its page there. The app is a research workbench on the same TEI editions, offline, and is described by what it adds, never against the site: facets computed over the match with counts (person, document type, archival provenance, subject, year, volume); a result set frozen as a working corpus; saved scopes; the Query Inspector; concordance and collocates; source-note resolution; and a route to Zotero. The Office's digitization, TEI encoding and open publication are what make the app possible. The app is free.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02 of the store set. Layer rule: FRUS text is read from the volumes alone; the reader's own notes are a fourth thing the app never mixes into the published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03. The map is a computed layer: the app's model reading the language, experimental, not an editorial fact. Figures: 314,616 documents on the map (semantic-vectors-index.json), 140 regions (semantic-map-index.json, after the EmbeddingGemma 2 relayout of 2026-10-15). The caveat line and 'Experimental' must stay in any frame that shows the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 §2. The demo data on the capture devices fits all three: the project Early Cold War, the scopes Berlin Crises 1958-1963, Cuba 1958-1963 and Soviet Union 1945-1950, the collection The Long Telegram and Its Readers, and an Archives Visit seeded from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history.state.gov: the app builds on the Office's TEI editions and links every document back to its page there. Describe what the app adds (offline search, facets with counts, a working corpus, source-note resolution, the Archives Visit packet, Zotero), never what the site lacks. The app is free.</a:t>
            </a:r>
          </a:p>
          <a:p/>
          <a:p>
            <a:r>
              <a:t>Source Explorer starts from the editors' source note (FRUS text) and joins it to the National Archives catalog where a key is given. Where the records are not at the National Archives it names the institution that holds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Objection: 'My students will not install an app.' They need not: the PDF and Word exports stand alone, and Share Citation sends a plain link. The app is for the teacher; the shareable collection file is for the class that does install it. The series dashboards and the Research Guide are the methods reading.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Objection: 'The series stops decades ago; I work on now.' The series runs to the early 1990s and the newest volumes to 1988 (vol. XVI of 1981–1988 is the latest in the bundle); the value is precedent, and the dashboards say exactly how far the record reaches. Never claim currency.</a:t>
            </a:r>
          </a:p>
          <a:p/>
          <a:p>
            <a:r>
              <a:t>Meaning search needs the optional 310 MB model (Google's EmbeddingGemma 2); describe, never brand, and keep 'experimental' in frame.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page and FAQ. Does it need the network? To download volumes, the optional search model and figure images; and when you ask it to look something up in the NARA Catalog or send to Zotero. Reading, search, annotation and most archival resolution run on the device.</a:t>
            </a:r>
          </a:p>
          <a:p/>
          <a:p>
            <a:r>
              <a:t>Privacy policy: https://frusexplorer.app/privacy.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and territories confirmed by the owner 2026-10-15: free, every storefront, English only. Version and build read 'Version 1.0 (1861)' in About.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web edition's README and plan (joshbotts/FRUS-Explorer-Web-App, read 2026-10-22). Status: early development. Phase 1 shipped as a Compose install and the owner signed it off on 13 October; sessions 11a to 11e then brought Cite, the facets, the Query Inspector and the date order to the browser app (the last merged 14 October). Session 11f, the timeline and concordance readings, is next. Phase 2 adds user data and its nightly backup; phase 3 standalone indexing, local accounts and a reverse-proxy recipe for sharing beyond localhost; AWS returns as phase 6 (one ECS task on Fargate, about $155 to $170 a month). It is designed for a researcher or a small group, not a public high-traffic site. The web edition compiles the shared kits from a pinned commit of this repository; its CI renders and indexes fixture volumes on Linux byte-identical to the Mac. EmbeddingGemma is never bundled with the image.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one-line press description (kit §5.4), under 200 characters. Every asset that names the Office of the Historian carries the not-an-official-product sentence.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1.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217"/>
        </a:solidFill>
        <a:effectLst/>
      </p:bgPr>
    </p:bg>
    <p:spTree>
      <p:nvGrpSpPr>
        <p:cNvPr id="1" name=""/>
        <p:cNvGrpSpPr/>
        <p:nvPr/>
      </p:nvGrpSpPr>
      <p:grpSpPr/>
      <p:pic>
        <p:nvPicPr>
          <p:cNvPr id="2" name="Picture 1" descr="Docs__screenshots__ipad__semantic-map.jpg"/>
          <p:cNvPicPr>
            <a:picLocks noChangeAspect="1"/>
          </p:cNvPicPr>
          <p:nvPr/>
        </p:nvPicPr>
        <p:blipFill>
          <a:blip r:embed="rId2"/>
          <a:stretch>
            <a:fillRect/>
          </a:stretch>
        </p:blipFill>
        <p:spPr>
          <a:xfrm>
            <a:off x="5989320" y="822960"/>
            <a:ext cx="5669280" cy="4251960"/>
          </a:xfrm>
          <a:prstGeom prst="rect">
            <a:avLst/>
          </a:prstGeom>
          <a:ln w="9525">
            <a:solidFill>
              <a:srgbClr val="2A2E36"/>
            </a:solidFill>
          </a:ln>
        </p:spPr>
      </p:pic>
      <p:pic>
        <p:nvPicPr>
          <p:cNvPr id="3" name="Picture 2" descr="FRUSExplorer__Resources__Assets.xcassets__AppIcon.appiconset__AppIcon-1024.png"/>
          <p:cNvPicPr>
            <a:picLocks noChangeAspect="1"/>
          </p:cNvPicPr>
          <p:nvPr/>
        </p:nvPicPr>
        <p:blipFill>
          <a:blip r:embed="rId3"/>
          <a:stretch>
            <a:fillRect/>
          </a:stretch>
        </p:blipFill>
        <p:spPr>
          <a:xfrm>
            <a:off x="548640" y="1143000"/>
            <a:ext cx="1371600" cy="1371600"/>
          </a:xfrm>
          <a:prstGeom prst="rect">
            <a:avLst/>
          </a:prstGeom>
        </p:spPr>
      </p:pic>
      <p:sp>
        <p:nvSpPr>
          <p:cNvPr id="4" name="TextBox 3"/>
          <p:cNvSpPr txBox="1"/>
          <p:nvPr/>
        </p:nvSpPr>
        <p:spPr>
          <a:xfrm>
            <a:off x="548640" y="2743200"/>
            <a:ext cx="5120640" cy="914400"/>
          </a:xfrm>
          <a:prstGeom prst="rect">
            <a:avLst/>
          </a:prstGeom>
          <a:noFill/>
        </p:spPr>
        <p:txBody>
          <a:bodyPr wrap="square" anchor="t" lIns="0" rIns="0" tIns="0" bIns="0">
            <a:spAutoFit/>
          </a:bodyPr>
          <a:lstStyle/>
          <a:p>
            <a:pPr algn="l"/>
            <a:r>
              <a:rPr sz="4400" b="1" i="0">
                <a:solidFill>
                  <a:srgbClr val="F5F5F7"/>
                </a:solidFill>
                <a:latin typeface="Georgia"/>
              </a:rPr>
              <a:t>FRUS Explorer</a:t>
            </a:r>
          </a:p>
        </p:txBody>
      </p:sp>
      <p:sp>
        <p:nvSpPr>
          <p:cNvPr id="5" name="TextBox 4"/>
          <p:cNvSpPr txBox="1"/>
          <p:nvPr/>
        </p:nvSpPr>
        <p:spPr>
          <a:xfrm>
            <a:off x="548640" y="3703320"/>
            <a:ext cx="5120640" cy="1188720"/>
          </a:xfrm>
          <a:prstGeom prst="rect">
            <a:avLst/>
          </a:prstGeom>
          <a:noFill/>
        </p:spPr>
        <p:txBody>
          <a:bodyPr wrap="square" anchor="t" lIns="0" rIns="0" tIns="0" bIns="0">
            <a:spAutoFit/>
          </a:bodyPr>
          <a:lstStyle/>
          <a:p>
            <a:pPr algn="l">
              <a:lnSpc>
                <a:spcPct val="115000"/>
              </a:lnSpc>
            </a:pPr>
            <a:r>
              <a:rPr sz="2000" b="0" i="0">
                <a:solidFill>
                  <a:srgbClr val="A8A8B0"/>
                </a:solidFill>
                <a:latin typeface="Arial"/>
              </a:rPr>
              <a:t>The edited record of U.S. diplomacy, on your device, with tools built on its editors' work.</a:t>
            </a:r>
          </a:p>
        </p:txBody>
      </p:sp>
      <p:sp>
        <p:nvSpPr>
          <p:cNvPr id="6" name="Rounded Rectangle 5"/>
          <p:cNvSpPr/>
          <p:nvPr/>
        </p:nvSpPr>
        <p:spPr>
          <a:xfrm>
            <a:off x="548640" y="4754880"/>
            <a:ext cx="2926080" cy="274320"/>
          </a:xfrm>
          <a:prstGeom prst="roundRect">
            <a:avLst>
              <a:gd name="adj" fmla="val 50000"/>
            </a:avLst>
          </a:prstGeom>
          <a:solidFill>
            <a:srgbClr val="E879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754880"/>
            <a:ext cx="2926080" cy="274320"/>
          </a:xfrm>
          <a:prstGeom prst="rect">
            <a:avLst/>
          </a:prstGeom>
          <a:noFill/>
        </p:spPr>
        <p:txBody>
          <a:bodyPr wrap="square" anchor="ctr" lIns="0" rIns="0" tIns="0" bIns="0">
            <a:spAutoFit/>
          </a:bodyPr>
          <a:lstStyle/>
          <a:p>
            <a:pPr algn="ctr"/>
            <a:r>
              <a:rPr sz="900" b="1" i="0" spc="120">
                <a:solidFill>
                  <a:srgbClr val="0F1217"/>
                </a:solidFill>
                <a:latin typeface="Arial"/>
              </a:rPr>
              <a:t>COMING SOON TO THE APP STORE</a:t>
            </a:r>
          </a:p>
        </p:txBody>
      </p:sp>
      <p:sp>
        <p:nvSpPr>
          <p:cNvPr id="8" name="TextBox 7"/>
          <p:cNvSpPr txBox="1"/>
          <p:nvPr/>
        </p:nvSpPr>
        <p:spPr>
          <a:xfrm>
            <a:off x="548640" y="5120640"/>
            <a:ext cx="5120640" cy="640080"/>
          </a:xfrm>
          <a:prstGeom prst="rect">
            <a:avLst/>
          </a:prstGeom>
          <a:noFill/>
        </p:spPr>
        <p:txBody>
          <a:bodyPr wrap="square" anchor="t" lIns="0" rIns="0" tIns="0" bIns="0">
            <a:spAutoFit/>
          </a:bodyPr>
          <a:lstStyle/>
          <a:p>
            <a:pPr algn="l">
              <a:lnSpc>
                <a:spcPct val="120000"/>
              </a:lnSpc>
            </a:pPr>
            <a:r>
              <a:rPr sz="1200" b="0" i="0">
                <a:solidFill>
                  <a:srgbClr val="A8A8B0"/>
                </a:solidFill>
                <a:latin typeface="Arial"/>
              </a:rPr>
              <a:t>App briefing · October 2026</a:t>
            </a:r>
          </a:p>
          <a:p>
            <a:pPr algn="l">
              <a:lnSpc>
                <a:spcPct val="120000"/>
              </a:lnSpc>
            </a:pPr>
            <a:r>
              <a:rPr sz="1200" b="0" i="0">
                <a:solidFill>
                  <a:srgbClr val="A8A8B0"/>
                </a:solidFill>
                <a:latin typeface="Arial"/>
              </a:rPr>
              <a:t>Version 1.0, build 1861, awaiting App Store submission · iPhone, iPad and Mac · free</a:t>
            </a:r>
          </a:p>
        </p:txBody>
      </p:sp>
      <p:sp>
        <p:nvSpPr>
          <p:cNvPr id="9" name="TextBox 8"/>
          <p:cNvSpPr txBox="1"/>
          <p:nvPr/>
        </p:nvSpPr>
        <p:spPr>
          <a:xfrm>
            <a:off x="5989320" y="5212080"/>
            <a:ext cx="5669280" cy="274320"/>
          </a:xfrm>
          <a:prstGeom prst="rect">
            <a:avLst/>
          </a:prstGeom>
          <a:noFill/>
        </p:spPr>
        <p:txBody>
          <a:bodyPr wrap="square" anchor="t" lIns="0" rIns="0" tIns="0" bIns="0">
            <a:spAutoFit/>
          </a:bodyPr>
          <a:lstStyle/>
          <a:p>
            <a:pPr algn="l"/>
            <a:r>
              <a:rPr sz="900" b="0" i="1">
                <a:solidFill>
                  <a:srgbClr val="A8A8B0"/>
                </a:solidFill>
                <a:latin typeface="Arial"/>
              </a:rPr>
              <a:t>Semantic map of 314,616 documents, iPad. Layout preserves local similarity; distances between far regions are not meaningful. Experimental.</a:t>
            </a:r>
          </a:p>
        </p:txBody>
      </p:sp>
      <p:sp>
        <p:nvSpPr>
          <p:cNvPr id="10" name="TextBox 9"/>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A8A8B0"/>
                </a:solidFill>
                <a:latin typeface="Arial"/>
              </a:rPr>
              <a:t>FRUS Explorer is an independent research tool. It is not an official product of the Office of the Historian or the U.S. Department of State. The FRUS series itself is in the public domain.</a:t>
            </a:r>
          </a:p>
        </p:txBody>
      </p:sp>
      <p:sp>
        <p:nvSpPr>
          <p:cNvPr id="11" name="TextBox 10"/>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A8A8B0"/>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THE SERIES</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The official documentary record of U.S. foreign policy, published since 1861</a:t>
            </a:r>
          </a:p>
        </p:txBody>
      </p:sp>
      <p:sp>
        <p:nvSpPr>
          <p:cNvPr id="4" name="TextBox 3"/>
          <p:cNvSpPr txBox="1"/>
          <p:nvPr/>
        </p:nvSpPr>
        <p:spPr>
          <a:xfrm>
            <a:off x="548640" y="1965960"/>
            <a:ext cx="5394960" cy="3931920"/>
          </a:xfrm>
          <a:prstGeom prst="rect">
            <a:avLst/>
          </a:prstGeom>
          <a:noFill/>
        </p:spPr>
        <p:txBody>
          <a:bodyPr wrap="square" anchor="t" lIns="0" rIns="0" tIns="0" bIns="0">
            <a:spAutoFit/>
          </a:bodyPr>
          <a:lstStyle/>
          <a:p>
            <a:pPr algn="l">
              <a:lnSpc>
                <a:spcPct val="118000"/>
              </a:lnSpc>
              <a:spcAft>
                <a:spcPts val="1200"/>
              </a:spcAft>
            </a:pPr>
            <a:r>
              <a:rPr sz="1400" b="0" i="1">
                <a:solidFill>
                  <a:srgbClr val="1C1C1E"/>
                </a:solidFill>
                <a:latin typeface="Arial"/>
              </a:rPr>
              <a:t>Foreign Relations of the United States</a:t>
            </a:r>
            <a:r>
              <a:rPr sz="1400" b="0" i="0">
                <a:solidFill>
                  <a:srgbClr val="1C1C1E"/>
                </a:solidFill>
                <a:latin typeface="Arial"/>
              </a:rPr>
              <a:t> is the State Department's official documentary record of American foreign policy: declassified cables, memoranda, minutes and intelligence estimates, every one of them in the public domain.</a:t>
            </a:r>
          </a:p>
          <a:p>
            <a:pPr algn="l">
              <a:lnSpc>
                <a:spcPct val="118000"/>
              </a:lnSpc>
              <a:spcAft>
                <a:spcPts val="1200"/>
              </a:spcAft>
            </a:pPr>
            <a:r>
              <a:rPr sz="1400" b="0" i="0">
                <a:solidFill>
                  <a:srgbClr val="1C1C1E"/>
                </a:solidFill>
                <a:latin typeface="Arial"/>
              </a:rPr>
              <a:t>The series is worth building on because of how it is made. Its editors, today the historians of the Office of the Historian, choose the documents that record major decisions from the files of the Department and the other agencies involved. They print them in date order, write each one's heading, note where the original is kept, point to related documents, summarize what they could not print, and mark what remains classified.</a:t>
            </a:r>
          </a:p>
          <a:p>
            <a:pPr algn="l">
              <a:lnSpc>
                <a:spcPct val="118000"/>
              </a:lnSpc>
              <a:spcAft>
                <a:spcPts val="1200"/>
              </a:spcAft>
            </a:pPr>
            <a:r>
              <a:rPr sz="1400" b="0" i="0">
                <a:solidFill>
                  <a:srgbClr val="1C1C1E"/>
                </a:solidFill>
                <a:latin typeface="Arial"/>
              </a:rPr>
              <a:t>By statute the series must be “a thorough, accurate, and reliable record”, with every deletion marked where it occurs. The Office also publishes it as open data: each digitized volume as TEI, with the editors' dates, people and cross-references encoded, free to read, search and download at history.state.gov.</a:t>
            </a:r>
          </a:p>
        </p:txBody>
      </p:sp>
      <p:sp>
        <p:nvSpPr>
          <p:cNvPr id="5" name="Rounded Rectangle 4"/>
          <p:cNvSpPr/>
          <p:nvPr/>
        </p:nvSpPr>
        <p:spPr>
          <a:xfrm>
            <a:off x="6428232" y="1965960"/>
            <a:ext cx="2514600" cy="17830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56832" y="2167128"/>
            <a:ext cx="2057400" cy="777240"/>
          </a:xfrm>
          <a:prstGeom prst="rect">
            <a:avLst/>
          </a:prstGeom>
          <a:noFill/>
        </p:spPr>
        <p:txBody>
          <a:bodyPr wrap="square" anchor="b" lIns="0" rIns="0" tIns="0" bIns="0">
            <a:spAutoFit/>
          </a:bodyPr>
          <a:lstStyle/>
          <a:p>
            <a:pPr algn="l"/>
            <a:r>
              <a:rPr sz="3000" b="1" i="0">
                <a:solidFill>
                  <a:srgbClr val="A61C2A"/>
                </a:solidFill>
                <a:latin typeface="Georgia"/>
              </a:rPr>
              <a:t>553</a:t>
            </a:r>
          </a:p>
        </p:txBody>
      </p:sp>
      <p:sp>
        <p:nvSpPr>
          <p:cNvPr id="7" name="TextBox 6"/>
          <p:cNvSpPr txBox="1"/>
          <p:nvPr/>
        </p:nvSpPr>
        <p:spPr>
          <a:xfrm>
            <a:off x="6656832" y="2971800"/>
            <a:ext cx="2057400" cy="685800"/>
          </a:xfrm>
          <a:prstGeom prst="rect">
            <a:avLst/>
          </a:prstGeom>
          <a:noFill/>
        </p:spPr>
        <p:txBody>
          <a:bodyPr wrap="square" anchor="t" lIns="0" rIns="0" tIns="0" bIns="0">
            <a:spAutoFit/>
          </a:bodyPr>
          <a:lstStyle/>
          <a:p>
            <a:pPr algn="l">
              <a:lnSpc>
                <a:spcPct val="110000"/>
              </a:lnSpc>
            </a:pPr>
            <a:r>
              <a:rPr sz="1300" b="0" i="0">
                <a:solidFill>
                  <a:srgbClr val="5C5C61"/>
                </a:solidFill>
                <a:latin typeface="Arial"/>
              </a:rPr>
              <a:t>volumes in the app's bundled manifest</a:t>
            </a:r>
          </a:p>
        </p:txBody>
      </p:sp>
      <p:sp>
        <p:nvSpPr>
          <p:cNvPr id="8" name="Rounded Rectangle 7"/>
          <p:cNvSpPr/>
          <p:nvPr/>
        </p:nvSpPr>
        <p:spPr>
          <a:xfrm>
            <a:off x="9125712" y="1965960"/>
            <a:ext cx="2514600" cy="17830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54312" y="2167128"/>
            <a:ext cx="2057400" cy="777240"/>
          </a:xfrm>
          <a:prstGeom prst="rect">
            <a:avLst/>
          </a:prstGeom>
          <a:noFill/>
        </p:spPr>
        <p:txBody>
          <a:bodyPr wrap="square" anchor="b" lIns="0" rIns="0" tIns="0" bIns="0">
            <a:spAutoFit/>
          </a:bodyPr>
          <a:lstStyle/>
          <a:p>
            <a:pPr algn="l"/>
            <a:r>
              <a:rPr sz="3000" b="1" i="0">
                <a:solidFill>
                  <a:srgbClr val="A61C2A"/>
                </a:solidFill>
                <a:latin typeface="Georgia"/>
              </a:rPr>
              <a:t>1861</a:t>
            </a:r>
          </a:p>
        </p:txBody>
      </p:sp>
      <p:sp>
        <p:nvSpPr>
          <p:cNvPr id="10" name="TextBox 9"/>
          <p:cNvSpPr txBox="1"/>
          <p:nvPr/>
        </p:nvSpPr>
        <p:spPr>
          <a:xfrm>
            <a:off x="9354312" y="2971800"/>
            <a:ext cx="2057400" cy="685800"/>
          </a:xfrm>
          <a:prstGeom prst="rect">
            <a:avLst/>
          </a:prstGeom>
          <a:noFill/>
        </p:spPr>
        <p:txBody>
          <a:bodyPr wrap="square" anchor="t" lIns="0" rIns="0" tIns="0" bIns="0">
            <a:spAutoFit/>
          </a:bodyPr>
          <a:lstStyle/>
          <a:p>
            <a:pPr algn="l">
              <a:lnSpc>
                <a:spcPct val="110000"/>
              </a:lnSpc>
            </a:pPr>
            <a:r>
              <a:rPr sz="1300" b="0" i="0">
                <a:solidFill>
                  <a:srgbClr val="5C5C61"/>
                </a:solidFill>
                <a:latin typeface="Arial"/>
              </a:rPr>
              <a:t>the year the series began publishing</a:t>
            </a:r>
          </a:p>
        </p:txBody>
      </p:sp>
      <p:sp>
        <p:nvSpPr>
          <p:cNvPr id="11" name="Rounded Rectangle 10"/>
          <p:cNvSpPr/>
          <p:nvPr/>
        </p:nvSpPr>
        <p:spPr>
          <a:xfrm>
            <a:off x="6428232" y="3931920"/>
            <a:ext cx="2514600" cy="17830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6832" y="4133087"/>
            <a:ext cx="2057400" cy="777240"/>
          </a:xfrm>
          <a:prstGeom prst="rect">
            <a:avLst/>
          </a:prstGeom>
          <a:noFill/>
        </p:spPr>
        <p:txBody>
          <a:bodyPr wrap="square" anchor="b" lIns="0" rIns="0" tIns="0" bIns="0">
            <a:spAutoFit/>
          </a:bodyPr>
          <a:lstStyle/>
          <a:p>
            <a:pPr algn="l"/>
            <a:r>
              <a:rPr sz="3000" b="1" i="0">
                <a:solidFill>
                  <a:srgbClr val="A61C2A"/>
                </a:solidFill>
                <a:latin typeface="Georgia"/>
              </a:rPr>
              <a:t>107</a:t>
            </a:r>
          </a:p>
        </p:txBody>
      </p:sp>
      <p:sp>
        <p:nvSpPr>
          <p:cNvPr id="13" name="TextBox 12"/>
          <p:cNvSpPr txBox="1"/>
          <p:nvPr/>
        </p:nvSpPr>
        <p:spPr>
          <a:xfrm>
            <a:off x="6656832" y="4937760"/>
            <a:ext cx="2057400" cy="685800"/>
          </a:xfrm>
          <a:prstGeom prst="rect">
            <a:avLst/>
          </a:prstGeom>
          <a:noFill/>
        </p:spPr>
        <p:txBody>
          <a:bodyPr wrap="square" anchor="t" lIns="0" rIns="0" tIns="0" bIns="0">
            <a:spAutoFit/>
          </a:bodyPr>
          <a:lstStyle/>
          <a:p>
            <a:pPr algn="l">
              <a:lnSpc>
                <a:spcPct val="110000"/>
              </a:lnSpc>
            </a:pPr>
            <a:r>
              <a:rPr sz="1300" b="0" i="0">
                <a:solidFill>
                  <a:srgbClr val="5C5C61"/>
                </a:solidFill>
                <a:latin typeface="Arial"/>
              </a:rPr>
              <a:t>subseries, from the early volumes to 1981–1988</a:t>
            </a:r>
          </a:p>
        </p:txBody>
      </p:sp>
      <p:sp>
        <p:nvSpPr>
          <p:cNvPr id="14" name="Rounded Rectangle 13"/>
          <p:cNvSpPr/>
          <p:nvPr/>
        </p:nvSpPr>
        <p:spPr>
          <a:xfrm>
            <a:off x="9125712" y="3931920"/>
            <a:ext cx="2514600" cy="17830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54312" y="4133087"/>
            <a:ext cx="2057400" cy="777240"/>
          </a:xfrm>
          <a:prstGeom prst="rect">
            <a:avLst/>
          </a:prstGeom>
          <a:noFill/>
        </p:spPr>
        <p:txBody>
          <a:bodyPr wrap="square" anchor="b" lIns="0" rIns="0" tIns="0" bIns="0">
            <a:spAutoFit/>
          </a:bodyPr>
          <a:lstStyle/>
          <a:p>
            <a:pPr algn="l"/>
            <a:r>
              <a:rPr sz="3000" b="1" i="0">
                <a:solidFill>
                  <a:srgbClr val="A61C2A"/>
                </a:solidFill>
                <a:latin typeface="Georgia"/>
              </a:rPr>
              <a:t>~317,000</a:t>
            </a:r>
          </a:p>
        </p:txBody>
      </p:sp>
      <p:sp>
        <p:nvSpPr>
          <p:cNvPr id="16" name="TextBox 15"/>
          <p:cNvSpPr txBox="1"/>
          <p:nvPr/>
        </p:nvSpPr>
        <p:spPr>
          <a:xfrm>
            <a:off x="9354312" y="4937760"/>
            <a:ext cx="2057400" cy="685800"/>
          </a:xfrm>
          <a:prstGeom prst="rect">
            <a:avLst/>
          </a:prstGeom>
          <a:noFill/>
        </p:spPr>
        <p:txBody>
          <a:bodyPr wrap="square" anchor="t" lIns="0" rIns="0" tIns="0" bIns="0">
            <a:spAutoFit/>
          </a:bodyPr>
          <a:lstStyle/>
          <a:p>
            <a:pPr algn="l">
              <a:lnSpc>
                <a:spcPct val="110000"/>
              </a:lnSpc>
            </a:pPr>
            <a:r>
              <a:rPr sz="1300" b="0" i="0">
                <a:solidFill>
                  <a:srgbClr val="5C5C61"/>
                </a:solidFill>
                <a:latin typeface="Arial"/>
              </a:rPr>
              <a:t>documents in a full local index</a:t>
            </a:r>
          </a:p>
        </p:txBody>
      </p:sp>
      <p:sp>
        <p:nvSpPr>
          <p:cNvPr id="17" name="TextBox 16"/>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8" name="TextBox 17"/>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THE APP</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FRUS Explorer puts the series on your iPhone, iPad or Mac and builds a workbench around it</a:t>
            </a:r>
          </a:p>
        </p:txBody>
      </p:sp>
      <p:sp>
        <p:nvSpPr>
          <p:cNvPr id="4" name="TextBox 3"/>
          <p:cNvSpPr txBox="1"/>
          <p:nvPr/>
        </p:nvSpPr>
        <p:spPr>
          <a:xfrm>
            <a:off x="548640" y="1965960"/>
            <a:ext cx="5852160" cy="2743200"/>
          </a:xfrm>
          <a:prstGeom prst="rect">
            <a:avLst/>
          </a:prstGeom>
          <a:noFill/>
        </p:spPr>
        <p:txBody>
          <a:bodyPr wrap="square" anchor="t" lIns="0" rIns="0" tIns="0" bIns="0">
            <a:spAutoFit/>
          </a:bodyPr>
          <a:lstStyle/>
          <a:p>
            <a:pPr algn="l">
              <a:lnSpc>
                <a:spcPct val="118000"/>
              </a:lnSpc>
              <a:spcAft>
                <a:spcPts val="1200"/>
              </a:spcAft>
            </a:pPr>
            <a:r>
              <a:rPr sz="1400" b="0" i="0">
                <a:solidFill>
                  <a:srgbClr val="1C1C1E"/>
                </a:solidFill>
                <a:latin typeface="Arial"/>
              </a:rPr>
              <a:t>It downloads the Office of the Historian's TEI editions, indexes them on your device, and works offline from then on. Its tools build on the Office's editorial excellence and its innovation in publishing: the editors' apparatus, encoded in open TEI, becomes source notes resolved to the shelf, cross-references drawn as a graph, and the people and dates the editors identified made searchable.</a:t>
            </a:r>
          </a:p>
          <a:p>
            <a:pPr algn="l">
              <a:lnSpc>
                <a:spcPct val="118000"/>
              </a:lnSpc>
              <a:spcAft>
                <a:spcPts val="1200"/>
              </a:spcAft>
            </a:pPr>
            <a:r>
              <a:rPr sz="1400" b="0" i="0">
                <a:solidFill>
                  <a:srgbClr val="1C1C1E"/>
                </a:solidFill>
                <a:latin typeface="Arial"/>
              </a:rPr>
              <a:t>What you read, search and write stays with you: notes and collections sync only through your own iCloud account, and the app reaches the National Archives' catalog or your Zotero library only when you ask it to.</a:t>
            </a:r>
          </a:p>
        </p:txBody>
      </p:sp>
      <p:sp>
        <p:nvSpPr>
          <p:cNvPr id="5" name="Rounded Rectangle 4"/>
          <p:cNvSpPr/>
          <p:nvPr/>
        </p:nvSpPr>
        <p:spPr>
          <a:xfrm>
            <a:off x="548640" y="4434840"/>
            <a:ext cx="1828800" cy="1600200"/>
          </a:xfrm>
          <a:prstGeom prst="roundRect">
            <a:avLst>
              <a:gd name="adj" fmla="val 6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17720"/>
            <a:ext cx="1463040" cy="685800"/>
          </a:xfrm>
          <a:prstGeom prst="rect">
            <a:avLst/>
          </a:prstGeom>
          <a:noFill/>
        </p:spPr>
        <p:txBody>
          <a:bodyPr wrap="square" anchor="t" lIns="0" rIns="0" tIns="0" bIns="0">
            <a:spAutoFit/>
          </a:bodyPr>
          <a:lstStyle/>
          <a:p>
            <a:pPr algn="l">
              <a:lnSpc>
                <a:spcPct val="100000"/>
              </a:lnSpc>
            </a:pPr>
            <a:r>
              <a:rPr sz="1600" b="1" i="0">
                <a:solidFill>
                  <a:srgbClr val="A61C2A"/>
                </a:solidFill>
                <a:latin typeface="Georgia"/>
              </a:rPr>
              <a:t>iPhone, iPad and Mac</a:t>
            </a:r>
          </a:p>
        </p:txBody>
      </p:sp>
      <p:sp>
        <p:nvSpPr>
          <p:cNvPr id="7" name="TextBox 6"/>
          <p:cNvSpPr txBox="1"/>
          <p:nvPr/>
        </p:nvSpPr>
        <p:spPr>
          <a:xfrm>
            <a:off x="731520" y="5330952"/>
            <a:ext cx="1463040" cy="594359"/>
          </a:xfrm>
          <a:prstGeom prst="rect">
            <a:avLst/>
          </a:prstGeom>
          <a:noFill/>
        </p:spPr>
        <p:txBody>
          <a:bodyPr wrap="square" anchor="t" lIns="0" rIns="0" tIns="0" bIns="0">
            <a:spAutoFit/>
          </a:bodyPr>
          <a:lstStyle/>
          <a:p>
            <a:pPr algn="l">
              <a:lnSpc>
                <a:spcPct val="110000"/>
              </a:lnSpc>
            </a:pPr>
            <a:r>
              <a:rPr sz="1200" b="0" i="0">
                <a:solidFill>
                  <a:srgbClr val="5C5C61"/>
                </a:solidFill>
                <a:latin typeface="Arial"/>
              </a:rPr>
              <a:t>iOS, iPadOS and macOS 26</a:t>
            </a:r>
          </a:p>
        </p:txBody>
      </p:sp>
      <p:sp>
        <p:nvSpPr>
          <p:cNvPr id="8" name="Rounded Rectangle 7"/>
          <p:cNvSpPr/>
          <p:nvPr/>
        </p:nvSpPr>
        <p:spPr>
          <a:xfrm>
            <a:off x="2560320" y="4434840"/>
            <a:ext cx="1828800" cy="1600200"/>
          </a:xfrm>
          <a:prstGeom prst="roundRect">
            <a:avLst>
              <a:gd name="adj" fmla="val 6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4617720"/>
            <a:ext cx="1463040" cy="685800"/>
          </a:xfrm>
          <a:prstGeom prst="rect">
            <a:avLst/>
          </a:prstGeom>
          <a:noFill/>
        </p:spPr>
        <p:txBody>
          <a:bodyPr wrap="square" anchor="t" lIns="0" rIns="0" tIns="0" bIns="0">
            <a:spAutoFit/>
          </a:bodyPr>
          <a:lstStyle/>
          <a:p>
            <a:pPr algn="l">
              <a:lnSpc>
                <a:spcPct val="100000"/>
              </a:lnSpc>
            </a:pPr>
            <a:r>
              <a:rPr sz="1600" b="1" i="0">
                <a:solidFill>
                  <a:srgbClr val="A61C2A"/>
                </a:solidFill>
                <a:latin typeface="Georgia"/>
              </a:rPr>
              <a:t>Free, coming soon</a:t>
            </a:r>
          </a:p>
        </p:txBody>
      </p:sp>
      <p:sp>
        <p:nvSpPr>
          <p:cNvPr id="10" name="TextBox 9"/>
          <p:cNvSpPr txBox="1"/>
          <p:nvPr/>
        </p:nvSpPr>
        <p:spPr>
          <a:xfrm>
            <a:off x="2743200" y="5330952"/>
            <a:ext cx="1463040" cy="594359"/>
          </a:xfrm>
          <a:prstGeom prst="rect">
            <a:avLst/>
          </a:prstGeom>
          <a:noFill/>
        </p:spPr>
        <p:txBody>
          <a:bodyPr wrap="square" anchor="t" lIns="0" rIns="0" tIns="0" bIns="0">
            <a:spAutoFit/>
          </a:bodyPr>
          <a:lstStyle/>
          <a:p>
            <a:pPr algn="l">
              <a:lnSpc>
                <a:spcPct val="110000"/>
              </a:lnSpc>
            </a:pPr>
            <a:r>
              <a:rPr sz="1200" b="0" i="0">
                <a:solidFill>
                  <a:srgbClr val="5C5C61"/>
                </a:solidFill>
                <a:latin typeface="Arial"/>
              </a:rPr>
              <a:t>Every storefront, English only</a:t>
            </a:r>
          </a:p>
        </p:txBody>
      </p:sp>
      <p:sp>
        <p:nvSpPr>
          <p:cNvPr id="11" name="Rounded Rectangle 10"/>
          <p:cNvSpPr/>
          <p:nvPr/>
        </p:nvSpPr>
        <p:spPr>
          <a:xfrm>
            <a:off x="4572000" y="4434840"/>
            <a:ext cx="1828800" cy="1600200"/>
          </a:xfrm>
          <a:prstGeom prst="roundRect">
            <a:avLst>
              <a:gd name="adj" fmla="val 6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4617720"/>
            <a:ext cx="1463040" cy="685800"/>
          </a:xfrm>
          <a:prstGeom prst="rect">
            <a:avLst/>
          </a:prstGeom>
          <a:noFill/>
        </p:spPr>
        <p:txBody>
          <a:bodyPr wrap="square" anchor="t" lIns="0" rIns="0" tIns="0" bIns="0">
            <a:spAutoFit/>
          </a:bodyPr>
          <a:lstStyle/>
          <a:p>
            <a:pPr algn="l">
              <a:lnSpc>
                <a:spcPct val="100000"/>
              </a:lnSpc>
            </a:pPr>
            <a:r>
              <a:rPr sz="1600" b="1" i="0">
                <a:solidFill>
                  <a:srgbClr val="A61C2A"/>
                </a:solidFill>
                <a:latin typeface="Georgia"/>
              </a:rPr>
              <a:t>Offline</a:t>
            </a:r>
          </a:p>
        </p:txBody>
      </p:sp>
      <p:sp>
        <p:nvSpPr>
          <p:cNvPr id="13" name="TextBox 12"/>
          <p:cNvSpPr txBox="1"/>
          <p:nvPr/>
        </p:nvSpPr>
        <p:spPr>
          <a:xfrm>
            <a:off x="4754880" y="5330952"/>
            <a:ext cx="1463040" cy="594359"/>
          </a:xfrm>
          <a:prstGeom prst="rect">
            <a:avLst/>
          </a:prstGeom>
          <a:noFill/>
        </p:spPr>
        <p:txBody>
          <a:bodyPr wrap="square" anchor="t" lIns="0" rIns="0" tIns="0" bIns="0">
            <a:spAutoFit/>
          </a:bodyPr>
          <a:lstStyle/>
          <a:p>
            <a:pPr algn="l">
              <a:lnSpc>
                <a:spcPct val="110000"/>
              </a:lnSpc>
            </a:pPr>
            <a:r>
              <a:rPr sz="1200" b="0" i="0">
                <a:solidFill>
                  <a:srgbClr val="5C5C61"/>
                </a:solidFill>
                <a:latin typeface="Arial"/>
              </a:rPr>
              <a:t>After the volumes you choose are downloaded</a:t>
            </a:r>
          </a:p>
        </p:txBody>
      </p:sp>
      <p:sp>
        <p:nvSpPr>
          <p:cNvPr id="14" name="Rounded Rectangle 13"/>
          <p:cNvSpPr/>
          <p:nvPr/>
        </p:nvSpPr>
        <p:spPr>
          <a:xfrm>
            <a:off x="6949440" y="1965960"/>
            <a:ext cx="4663440" cy="3977639"/>
          </a:xfrm>
          <a:prstGeom prst="roundRect">
            <a:avLst>
              <a:gd name="adj" fmla="val 5000"/>
            </a:avLst>
          </a:prstGeom>
          <a:solidFill>
            <a:srgbClr val="FBEEE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5472" y="2194560"/>
            <a:ext cx="4151375" cy="411480"/>
          </a:xfrm>
          <a:prstGeom prst="rect">
            <a:avLst/>
          </a:prstGeom>
          <a:noFill/>
        </p:spPr>
        <p:txBody>
          <a:bodyPr wrap="square" anchor="t" lIns="0" rIns="0" tIns="0" bIns="0">
            <a:spAutoFit/>
          </a:bodyPr>
          <a:lstStyle/>
          <a:p>
            <a:pPr algn="l">
              <a:lnSpc>
                <a:spcPct val="100000"/>
              </a:lnSpc>
            </a:pPr>
            <a:r>
              <a:rPr sz="1600" b="1" i="0">
                <a:solidFill>
                  <a:srgbClr val="1C1C1E"/>
                </a:solidFill>
                <a:latin typeface="Georgia"/>
              </a:rPr>
              <a:t>What it is not, said first by us</a:t>
            </a:r>
          </a:p>
        </p:txBody>
      </p:sp>
      <p:sp>
        <p:nvSpPr>
          <p:cNvPr id="16" name="TextBox 15"/>
          <p:cNvSpPr txBox="1"/>
          <p:nvPr/>
        </p:nvSpPr>
        <p:spPr>
          <a:xfrm>
            <a:off x="7205472" y="2651760"/>
            <a:ext cx="4151375" cy="3154679"/>
          </a:xfrm>
          <a:prstGeom prst="rect">
            <a:avLst/>
          </a:prstGeom>
          <a:noFill/>
        </p:spPr>
        <p:txBody>
          <a:bodyPr wrap="square" anchor="t" lIns="0" rIns="0" tIns="0" bIns="0">
            <a:spAutoFit/>
          </a:bodyPr>
          <a:lstStyle/>
          <a:p>
            <a:pPr algn="l">
              <a:lnSpc>
                <a:spcPct val="112000"/>
              </a:lnSpc>
              <a:spcAft>
                <a:spcPts val="500"/>
              </a:spcAft>
            </a:pPr>
            <a:r>
              <a:rPr sz="1400" b="1" i="0">
                <a:solidFill>
                  <a:srgbClr val="1C1C1E"/>
                </a:solidFill>
                <a:latin typeface="Arial"/>
              </a:rPr>
              <a:t>Not official. </a:t>
            </a:r>
            <a:r>
              <a:rPr sz="1400" b="0" i="0">
                <a:solidFill>
                  <a:srgbClr val="5C5C61"/>
                </a:solidFill>
                <a:latin typeface="Arial"/>
              </a:rPr>
              <a:t>An independent tool; the series is published by the Office of the Historian and is in the public domain. The app's commentary reflects personal views.</a:t>
            </a:r>
          </a:p>
          <a:p>
            <a:pPr algn="l">
              <a:lnSpc>
                <a:spcPct val="112000"/>
              </a:lnSpc>
              <a:spcAft>
                <a:spcPts val="500"/>
              </a:spcAft>
            </a:pPr>
            <a:r>
              <a:rPr sz="1400" b="1" i="0">
                <a:solidFill>
                  <a:srgbClr val="1C1C1E"/>
                </a:solidFill>
                <a:latin typeface="Arial"/>
              </a:rPr>
              <a:t>Not every document. </a:t>
            </a:r>
            <a:r>
              <a:rPr sz="1400" b="0" i="0">
                <a:solidFill>
                  <a:srgbClr val="5C5C61"/>
                </a:solidFill>
                <a:latin typeface="Arial"/>
              </a:rPr>
              <a:t>Two honest counts, neither “every”: about 317,000 in a full index, 314,616 on the map.</a:t>
            </a:r>
          </a:p>
          <a:p>
            <a:pPr algn="l">
              <a:lnSpc>
                <a:spcPct val="112000"/>
              </a:lnSpc>
              <a:spcAft>
                <a:spcPts val="500"/>
              </a:spcAft>
            </a:pPr>
            <a:r>
              <a:rPr sz="1400" b="1" i="0">
                <a:solidFill>
                  <a:srgbClr val="1C1C1E"/>
                </a:solidFill>
                <a:latin typeface="Arial"/>
              </a:rPr>
              <a:t>Not a chatbot. </a:t>
            </a:r>
            <a:r>
              <a:rPr sz="1400" b="0" i="0">
                <a:solidFill>
                  <a:srgbClr val="5C5C61"/>
                </a:solidFill>
                <a:latin typeface="Arial"/>
              </a:rPr>
              <a:t>The optional on-device model turns a question into a vector. Summaries are Apple's on-device framework, one document at a time, with authorship recorded.</a:t>
            </a:r>
          </a:p>
          <a:p>
            <a:pPr algn="l">
              <a:lnSpc>
                <a:spcPct val="112000"/>
              </a:lnSpc>
              <a:spcAft>
                <a:spcPts val="500"/>
              </a:spcAft>
            </a:pPr>
            <a:r>
              <a:rPr sz="1400" b="1" i="0">
                <a:solidFill>
                  <a:srgbClr val="1C1C1E"/>
                </a:solidFill>
                <a:latin typeface="Arial"/>
              </a:rPr>
              <a:t>English only </a:t>
            </a:r>
            <a:r>
              <a:rPr sz="1400" b="0" i="0">
                <a:solidFill>
                  <a:srgbClr val="5C5C61"/>
                </a:solidFill>
                <a:latin typeface="Arial"/>
              </a:rPr>
              <a:t>in this release.</a:t>
            </a:r>
          </a:p>
        </p:txBody>
      </p:sp>
      <p:sp>
        <p:nvSpPr>
          <p:cNvPr id="17" name="TextBox 16"/>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8" name="TextBox 17"/>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THREE PROOF POINTS</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Each claim has a screen that proves it</a:t>
            </a:r>
          </a:p>
        </p:txBody>
      </p:sp>
      <p:sp>
        <p:nvSpPr>
          <p:cNvPr id="4" name="Rounded Rectangle 3"/>
          <p:cNvSpPr/>
          <p:nvPr/>
        </p:nvSpPr>
        <p:spPr>
          <a:xfrm>
            <a:off x="548640"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ocs__screenshots__macos__search.jpg"/>
          <p:cNvPicPr>
            <a:picLocks noChangeAspect="1"/>
          </p:cNvPicPr>
          <p:nvPr/>
        </p:nvPicPr>
        <p:blipFill>
          <a:blip r:embed="rId2"/>
          <a:stretch>
            <a:fillRect/>
          </a:stretch>
        </p:blipFill>
        <p:spPr>
          <a:xfrm>
            <a:off x="731520" y="2057400"/>
            <a:ext cx="3072384" cy="1920240"/>
          </a:xfrm>
          <a:prstGeom prst="rect">
            <a:avLst/>
          </a:prstGeom>
          <a:ln w="9525">
            <a:solidFill>
              <a:srgbClr val="D6D6DA"/>
            </a:solidFill>
          </a:ln>
        </p:spPr>
      </p:pic>
      <p:sp>
        <p:nvSpPr>
          <p:cNvPr id="6" name="TextBox 5"/>
          <p:cNvSpPr txBox="1"/>
          <p:nvPr/>
        </p:nvSpPr>
        <p:spPr>
          <a:xfrm>
            <a:off x="777240" y="4069080"/>
            <a:ext cx="3108960" cy="502920"/>
          </a:xfrm>
          <a:prstGeom prst="rect">
            <a:avLst/>
          </a:prstGeom>
          <a:noFill/>
        </p:spPr>
        <p:txBody>
          <a:bodyPr wrap="square" anchor="t" lIns="0" rIns="0" tIns="0" bIns="0">
            <a:spAutoFit/>
          </a:bodyPr>
          <a:lstStyle/>
          <a:p>
            <a:pPr algn="l">
              <a:lnSpc>
                <a:spcPct val="105000"/>
              </a:lnSpc>
            </a:pPr>
            <a:r>
              <a:rPr sz="1600" b="1" i="0">
                <a:solidFill>
                  <a:srgbClr val="1C1C1E"/>
                </a:solidFill>
                <a:latin typeface="Georgia"/>
              </a:rPr>
              <a:t>Offline, whole-series search with facets</a:t>
            </a:r>
          </a:p>
        </p:txBody>
      </p:sp>
      <p:sp>
        <p:nvSpPr>
          <p:cNvPr id="7" name="TextBox 6"/>
          <p:cNvSpPr txBox="1"/>
          <p:nvPr/>
        </p:nvSpPr>
        <p:spPr>
          <a:xfrm>
            <a:off x="777240" y="4572000"/>
            <a:ext cx="3108960" cy="960120"/>
          </a:xfrm>
          <a:prstGeom prst="rect">
            <a:avLst/>
          </a:prstGeom>
          <a:noFill/>
        </p:spPr>
        <p:txBody>
          <a:bodyPr wrap="square" anchor="t" lIns="0" rIns="0" tIns="0" bIns="0">
            <a:spAutoFit/>
          </a:bodyPr>
          <a:lstStyle/>
          <a:p>
            <a:pPr algn="l">
              <a:lnSpc>
                <a:spcPct val="112000"/>
              </a:lnSpc>
            </a:pPr>
            <a:r>
              <a:rPr sz="1200" b="0" i="0">
                <a:solidFill>
                  <a:srgbClr val="5C5C61"/>
                </a:solidFill>
                <a:latin typeface="Arial"/>
              </a:rPr>
              <a:t>553 volumes; phrases, proximity and exact words; facets by year, volume, person, document type, provenance and subject.</a:t>
            </a:r>
          </a:p>
        </p:txBody>
      </p:sp>
      <p:sp>
        <p:nvSpPr>
          <p:cNvPr id="8" name="TextBox 7"/>
          <p:cNvSpPr txBox="1"/>
          <p:nvPr/>
        </p:nvSpPr>
        <p:spPr>
          <a:xfrm>
            <a:off x="777240" y="5532120"/>
            <a:ext cx="3108960" cy="640080"/>
          </a:xfrm>
          <a:prstGeom prst="rect">
            <a:avLst/>
          </a:prstGeom>
          <a:noFill/>
        </p:spPr>
        <p:txBody>
          <a:bodyPr wrap="square" anchor="t" lIns="0" rIns="0" tIns="0" bIns="0">
            <a:spAutoFit/>
          </a:bodyPr>
          <a:lstStyle/>
          <a:p>
            <a:pPr algn="l">
              <a:lnSpc>
                <a:spcPct val="110000"/>
              </a:lnSpc>
            </a:pPr>
            <a:r>
              <a:rPr sz="1100" b="0" i="1">
                <a:solidFill>
                  <a:srgbClr val="A61C2A"/>
                </a:solidFill>
                <a:latin typeface="Arial"/>
              </a:rPr>
              <a:t>Built on the Office's open TEI editions: the dates, people and cross-references its editors encoded, indexed whole on your device.</a:t>
            </a:r>
          </a:p>
        </p:txBody>
      </p:sp>
      <p:sp>
        <p:nvSpPr>
          <p:cNvPr id="9" name="Rounded Rectangle 8"/>
          <p:cNvSpPr/>
          <p:nvPr/>
        </p:nvSpPr>
        <p:spPr>
          <a:xfrm>
            <a:off x="4297679"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ocs__screenshots__ipad__source-explorer.jpg"/>
          <p:cNvPicPr>
            <a:picLocks noChangeAspect="1"/>
          </p:cNvPicPr>
          <p:nvPr/>
        </p:nvPicPr>
        <p:blipFill>
          <a:blip r:embed="rId3"/>
          <a:stretch>
            <a:fillRect/>
          </a:stretch>
        </p:blipFill>
        <p:spPr>
          <a:xfrm>
            <a:off x="4480559" y="2057400"/>
            <a:ext cx="2560320" cy="1920240"/>
          </a:xfrm>
          <a:prstGeom prst="rect">
            <a:avLst/>
          </a:prstGeom>
          <a:ln w="9525">
            <a:solidFill>
              <a:srgbClr val="D6D6DA"/>
            </a:solidFill>
          </a:ln>
        </p:spPr>
      </p:pic>
      <p:sp>
        <p:nvSpPr>
          <p:cNvPr id="11" name="TextBox 10"/>
          <p:cNvSpPr txBox="1"/>
          <p:nvPr/>
        </p:nvSpPr>
        <p:spPr>
          <a:xfrm>
            <a:off x="4526279" y="4069080"/>
            <a:ext cx="3108960" cy="502920"/>
          </a:xfrm>
          <a:prstGeom prst="rect">
            <a:avLst/>
          </a:prstGeom>
          <a:noFill/>
        </p:spPr>
        <p:txBody>
          <a:bodyPr wrap="square" anchor="t" lIns="0" rIns="0" tIns="0" bIns="0">
            <a:spAutoFit/>
          </a:bodyPr>
          <a:lstStyle/>
          <a:p>
            <a:pPr algn="l">
              <a:lnSpc>
                <a:spcPct val="105000"/>
              </a:lnSpc>
            </a:pPr>
            <a:r>
              <a:rPr sz="1600" b="1" i="0">
                <a:solidFill>
                  <a:srgbClr val="1C1C1E"/>
                </a:solidFill>
                <a:latin typeface="Georgia"/>
              </a:rPr>
              <a:t>The editors' apparatus, put to work</a:t>
            </a:r>
          </a:p>
        </p:txBody>
      </p:sp>
      <p:sp>
        <p:nvSpPr>
          <p:cNvPr id="12" name="TextBox 11"/>
          <p:cNvSpPr txBox="1"/>
          <p:nvPr/>
        </p:nvSpPr>
        <p:spPr>
          <a:xfrm>
            <a:off x="4526279" y="4572000"/>
            <a:ext cx="3108960" cy="960120"/>
          </a:xfrm>
          <a:prstGeom prst="rect">
            <a:avLst/>
          </a:prstGeom>
          <a:noFill/>
        </p:spPr>
        <p:txBody>
          <a:bodyPr wrap="square" anchor="t" lIns="0" rIns="0" tIns="0" bIns="0">
            <a:spAutoFit/>
          </a:bodyPr>
          <a:lstStyle/>
          <a:p>
            <a:pPr algn="l">
              <a:lnSpc>
                <a:spcPct val="112000"/>
              </a:lnSpc>
            </a:pPr>
            <a:r>
              <a:rPr sz="1200" b="0" i="0">
                <a:solidFill>
                  <a:srgbClr val="5C5C61"/>
                </a:solidFill>
                <a:latin typeface="Arial"/>
              </a:rPr>
              <a:t>A source note resolves to record group, entry and lot; a cross-reference becomes an edge in a graph; a name becomes a person you can follow across the series.</a:t>
            </a:r>
          </a:p>
        </p:txBody>
      </p:sp>
      <p:sp>
        <p:nvSpPr>
          <p:cNvPr id="13" name="TextBox 12"/>
          <p:cNvSpPr txBox="1"/>
          <p:nvPr/>
        </p:nvSpPr>
        <p:spPr>
          <a:xfrm>
            <a:off x="4526279" y="5532120"/>
            <a:ext cx="3108960" cy="640080"/>
          </a:xfrm>
          <a:prstGeom prst="rect">
            <a:avLst/>
          </a:prstGeom>
          <a:noFill/>
        </p:spPr>
        <p:txBody>
          <a:bodyPr wrap="square" anchor="t" lIns="0" rIns="0" tIns="0" bIns="0">
            <a:spAutoFit/>
          </a:bodyPr>
          <a:lstStyle/>
          <a:p>
            <a:pPr algn="l">
              <a:lnSpc>
                <a:spcPct val="110000"/>
              </a:lnSpc>
            </a:pPr>
            <a:r>
              <a:rPr sz="1100" b="0" i="1">
                <a:solidFill>
                  <a:srgbClr val="A61C2A"/>
                </a:solidFill>
                <a:latin typeface="Arial"/>
              </a:rPr>
              <a:t>A bulk release of documents has none of this. Nothing else turns a FRUS footnote into a pull slip.</a:t>
            </a:r>
          </a:p>
        </p:txBody>
      </p:sp>
      <p:sp>
        <p:nvSpPr>
          <p:cNvPr id="14" name="Rounded Rectangle 13"/>
          <p:cNvSpPr/>
          <p:nvPr/>
        </p:nvSpPr>
        <p:spPr>
          <a:xfrm>
            <a:off x="8046719"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ocs__screenshots__ipad__semantic-map.jpg"/>
          <p:cNvPicPr>
            <a:picLocks noChangeAspect="1"/>
          </p:cNvPicPr>
          <p:nvPr/>
        </p:nvPicPr>
        <p:blipFill>
          <a:blip r:embed="rId4"/>
          <a:stretch>
            <a:fillRect/>
          </a:stretch>
        </p:blipFill>
        <p:spPr>
          <a:xfrm>
            <a:off x="8229599" y="2057400"/>
            <a:ext cx="2560320" cy="1920240"/>
          </a:xfrm>
          <a:prstGeom prst="rect">
            <a:avLst/>
          </a:prstGeom>
          <a:ln w="9525">
            <a:solidFill>
              <a:srgbClr val="D6D6DA"/>
            </a:solidFill>
          </a:ln>
        </p:spPr>
      </p:pic>
      <p:sp>
        <p:nvSpPr>
          <p:cNvPr id="16" name="TextBox 15"/>
          <p:cNvSpPr txBox="1"/>
          <p:nvPr/>
        </p:nvSpPr>
        <p:spPr>
          <a:xfrm>
            <a:off x="8275319" y="4069080"/>
            <a:ext cx="3108960" cy="502920"/>
          </a:xfrm>
          <a:prstGeom prst="rect">
            <a:avLst/>
          </a:prstGeom>
          <a:noFill/>
        </p:spPr>
        <p:txBody>
          <a:bodyPr wrap="square" anchor="t" lIns="0" rIns="0" tIns="0" bIns="0">
            <a:spAutoFit/>
          </a:bodyPr>
          <a:lstStyle/>
          <a:p>
            <a:pPr algn="l">
              <a:lnSpc>
                <a:spcPct val="105000"/>
              </a:lnSpc>
            </a:pPr>
            <a:r>
              <a:rPr sz="1600" b="1" i="0">
                <a:solidFill>
                  <a:srgbClr val="1C1C1E"/>
                </a:solidFill>
                <a:latin typeface="Georgia"/>
              </a:rPr>
              <a:t>The series as a whole</a:t>
            </a:r>
          </a:p>
        </p:txBody>
      </p:sp>
      <p:sp>
        <p:nvSpPr>
          <p:cNvPr id="17" name="TextBox 16"/>
          <p:cNvSpPr txBox="1"/>
          <p:nvPr/>
        </p:nvSpPr>
        <p:spPr>
          <a:xfrm>
            <a:off x="8275319" y="4572000"/>
            <a:ext cx="3108960" cy="960120"/>
          </a:xfrm>
          <a:prstGeom prst="rect">
            <a:avLst/>
          </a:prstGeom>
          <a:noFill/>
        </p:spPr>
        <p:txBody>
          <a:bodyPr wrap="square" anchor="t" lIns="0" rIns="0" tIns="0" bIns="0">
            <a:spAutoFit/>
          </a:bodyPr>
          <a:lstStyle/>
          <a:p>
            <a:pPr algn="l">
              <a:lnSpc>
                <a:spcPct val="112000"/>
              </a:lnSpc>
            </a:pPr>
            <a:r>
              <a:rPr sz="1200" b="0" i="0">
                <a:solidFill>
                  <a:srgbClr val="5C5C61"/>
                </a:solidFill>
                <a:latin typeface="Arial"/>
              </a:rPr>
              <a:t>A map of 314,616 documents by the language they share; term frequency, person networks, chronology, archival sourcing, exportable with their method.</a:t>
            </a:r>
          </a:p>
        </p:txBody>
      </p:sp>
      <p:sp>
        <p:nvSpPr>
          <p:cNvPr id="18" name="TextBox 17"/>
          <p:cNvSpPr txBox="1"/>
          <p:nvPr/>
        </p:nvSpPr>
        <p:spPr>
          <a:xfrm>
            <a:off x="8275319" y="5532120"/>
            <a:ext cx="3108960" cy="640080"/>
          </a:xfrm>
          <a:prstGeom prst="rect">
            <a:avLst/>
          </a:prstGeom>
          <a:noFill/>
        </p:spPr>
        <p:txBody>
          <a:bodyPr wrap="square" anchor="t" lIns="0" rIns="0" tIns="0" bIns="0">
            <a:spAutoFit/>
          </a:bodyPr>
          <a:lstStyle/>
          <a:p>
            <a:pPr algn="l">
              <a:lnSpc>
                <a:spcPct val="110000"/>
              </a:lnSpc>
            </a:pPr>
            <a:r>
              <a:rPr sz="1100" b="0" i="1">
                <a:solidFill>
                  <a:srgbClr val="A61C2A"/>
                </a:solidFill>
                <a:latin typeface="Arial"/>
              </a:rPr>
              <a:t>The first time anyone has been able to look at the published record from above.</a:t>
            </a:r>
          </a:p>
        </p:txBody>
      </p:sp>
      <p:sp>
        <p:nvSpPr>
          <p:cNvPr id="19" name="TextBox 18"/>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20" name="TextBox 19"/>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BUILT ON THE OFFICE'S EDITORIAL WORK</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What the editors do, and what the app does with it</a:t>
            </a:r>
          </a:p>
        </p:txBody>
      </p:sp>
      <p:graphicFrame>
        <p:nvGraphicFramePr>
          <p:cNvPr id="4" name="Table 3"/>
          <p:cNvGraphicFramePr>
            <a:graphicFrameLocks noGrp="1"/>
          </p:cNvGraphicFramePr>
          <p:nvPr/>
        </p:nvGraphicFramePr>
        <p:xfrm>
          <a:off x="548640" y="1874519"/>
          <a:ext cx="11094415" cy="4206240"/>
        </p:xfrm>
        <a:graphic>
          <a:graphicData uri="http://schemas.openxmlformats.org/drawingml/2006/table">
            <a:tbl>
              <a:tblPr firstRow="0" bandRow="0">
                <a:tableStyleId>{5C22544A-7EE6-4342-B048-85BDC9FD1C3A}</a:tableStyleId>
              </a:tblPr>
              <a:tblGrid>
                <a:gridCol w="2286000"/>
                <a:gridCol w="4754880"/>
                <a:gridCol w="4053535"/>
              </a:tblGrid>
              <a:tr h="525780">
                <a:tc>
                  <a:txBody>
                    <a:bodyPr wrap="square"/>
                    <a:lstStyle/>
                    <a:p>
                      <a:r>
                        <a:rPr sz="1200" b="1" i="0">
                          <a:solidFill>
                            <a:srgbClr val="A61C2A"/>
                          </a:solidFill>
                          <a:latin typeface="Arial"/>
                        </a:rPr>
                        <a:t>What a researcher needs</a:t>
                      </a:r>
                    </a:p>
                  </a:txBody>
                  <a:tcPr marL="109728" marR="109728" marT="45720" marB="45720" anchor="ctr">
                    <a:solidFill>
                      <a:srgbClr val="FBEEEF"/>
                    </a:solidFill>
                  </a:tcPr>
                </a:tc>
                <a:tc>
                  <a:txBody>
                    <a:bodyPr wrap="square"/>
                    <a:lstStyle/>
                    <a:p>
                      <a:r>
                        <a:rPr sz="1200" b="1" i="0">
                          <a:solidFill>
                            <a:srgbClr val="A61C2A"/>
                          </a:solidFill>
                          <a:latin typeface="Arial"/>
                        </a:rPr>
                        <a:t>The edited series</a:t>
                      </a:r>
                    </a:p>
                  </a:txBody>
                  <a:tcPr marL="109728" marR="109728" marT="45720" marB="45720" anchor="ctr">
                    <a:solidFill>
                      <a:srgbClr val="FBEEEF"/>
                    </a:solidFill>
                  </a:tcPr>
                </a:tc>
                <a:tc>
                  <a:txBody>
                    <a:bodyPr wrap="square"/>
                    <a:lstStyle/>
                    <a:p>
                      <a:r>
                        <a:rPr sz="1200" b="1" i="0">
                          <a:solidFill>
                            <a:srgbClr val="A61C2A"/>
                          </a:solidFill>
                          <a:latin typeface="Arial"/>
                        </a:rPr>
                        <a:t>What the app does with it</a:t>
                      </a:r>
                    </a:p>
                  </a:txBody>
                  <a:tcPr marL="109728" marR="109728" marT="45720" marB="45720" anchor="ctr">
                    <a:solidFill>
                      <a:srgbClr val="FBEEEF"/>
                    </a:solidFill>
                  </a:tcPr>
                </a:tc>
              </a:tr>
              <a:tr h="525780">
                <a:tc>
                  <a:txBody>
                    <a:bodyPr wrap="square"/>
                    <a:lstStyle/>
                    <a:p>
                      <a:r>
                        <a:rPr sz="1200" b="1" i="0">
                          <a:solidFill>
                            <a:srgbClr val="1C1C1E"/>
                          </a:solidFill>
                          <a:latin typeface="Arial"/>
                        </a:rPr>
                        <a:t>Selection</a:t>
                      </a:r>
                    </a:p>
                  </a:txBody>
                  <a:tcPr marL="109728" marR="109728" marT="45720" marB="45720" anchor="ctr">
                    <a:solidFill>
                      <a:srgbClr val="FFFFFF"/>
                    </a:solidFill>
                  </a:tcPr>
                </a:tc>
                <a:tc>
                  <a:txBody>
                    <a:bodyPr wrap="square"/>
                    <a:lstStyle/>
                    <a:p>
                      <a:r>
                        <a:rPr sz="1100" b="0" i="1">
                          <a:solidFill>
                            <a:srgbClr val="5C5C61"/>
                          </a:solidFill>
                          <a:latin typeface="Arial"/>
                        </a:rPr>
                        <a:t>“all records needed to provide comprehensive documentation of major foreign policy decisions”</a:t>
                      </a:r>
                    </a:p>
                  </a:txBody>
                  <a:tcPr marL="109728" marR="109728" marT="45720" marB="45720" anchor="ctr">
                    <a:solidFill>
                      <a:srgbClr val="FFFFFF"/>
                    </a:solidFill>
                  </a:tcPr>
                </a:tc>
                <a:tc>
                  <a:txBody>
                    <a:bodyPr wrap="square"/>
                    <a:lstStyle/>
                    <a:p>
                      <a:r>
                        <a:rPr sz="1200" b="0" i="0">
                          <a:solidFill>
                            <a:srgbClr val="1C1C1E"/>
                          </a:solidFill>
                          <a:latin typeface="Arial"/>
                        </a:rPr>
                        <a:t>Searches the record the editors assembled; its counts are counts of what they chose to print</a:t>
                      </a:r>
                    </a:p>
                  </a:txBody>
                  <a:tcPr marL="109728" marR="109728" marT="45720" marB="45720" anchor="ctr">
                    <a:solidFill>
                      <a:srgbClr val="FFFFFF"/>
                    </a:solidFill>
                  </a:tcPr>
                </a:tc>
              </a:tr>
              <a:tr h="525780">
                <a:tc>
                  <a:txBody>
                    <a:bodyPr wrap="square"/>
                    <a:lstStyle/>
                    <a:p>
                      <a:r>
                        <a:rPr sz="1200" b="1" i="0">
                          <a:solidFill>
                            <a:srgbClr val="1C1C1E"/>
                          </a:solidFill>
                          <a:latin typeface="Arial"/>
                        </a:rPr>
                        <a:t>Order</a:t>
                      </a:r>
                    </a:p>
                  </a:txBody>
                  <a:tcPr marL="109728" marR="109728" marT="45720" marB="45720" anchor="ctr">
                    <a:solidFill>
                      <a:srgbClr val="F2F2F4"/>
                    </a:solidFill>
                  </a:tcPr>
                </a:tc>
                <a:tc>
                  <a:txBody>
                    <a:bodyPr wrap="square"/>
                    <a:lstStyle/>
                    <a:p>
                      <a:r>
                        <a:rPr sz="1100" b="0" i="1">
                          <a:solidFill>
                            <a:srgbClr val="5C5C61"/>
                          </a:solidFill>
                          <a:latin typeface="Arial"/>
                        </a:rPr>
                        <a:t>“The documents are presented chronologically according to Washington time.”</a:t>
                      </a:r>
                    </a:p>
                  </a:txBody>
                  <a:tcPr marL="109728" marR="109728" marT="45720" marB="45720" anchor="ctr">
                    <a:solidFill>
                      <a:srgbClr val="F2F2F4"/>
                    </a:solidFill>
                  </a:tcPr>
                </a:tc>
                <a:tc>
                  <a:txBody>
                    <a:bodyPr wrap="square"/>
                    <a:lstStyle/>
                    <a:p>
                      <a:r>
                        <a:rPr sz="1200" b="0" i="0">
                          <a:solidFill>
                            <a:srgbClr val="1C1C1E"/>
                          </a:solidFill>
                          <a:latin typeface="Arial"/>
                        </a:rPr>
                        <a:t>Chronology, Administrations and date order use the dates the editors assigned</a:t>
                      </a:r>
                    </a:p>
                  </a:txBody>
                  <a:tcPr marL="109728" marR="109728" marT="45720" marB="45720" anchor="ctr">
                    <a:solidFill>
                      <a:srgbClr val="F2F2F4"/>
                    </a:solidFill>
                  </a:tcPr>
                </a:tc>
              </a:tr>
              <a:tr h="525780">
                <a:tc>
                  <a:txBody>
                    <a:bodyPr wrap="square"/>
                    <a:lstStyle/>
                    <a:p>
                      <a:r>
                        <a:rPr sz="1200" b="1" i="0">
                          <a:solidFill>
                            <a:srgbClr val="1C1C1E"/>
                          </a:solidFill>
                          <a:latin typeface="Arial"/>
                        </a:rPr>
                        <a:t>A name for each item</a:t>
                      </a:r>
                    </a:p>
                  </a:txBody>
                  <a:tcPr marL="109728" marR="109728" marT="45720" marB="45720" anchor="ctr">
                    <a:solidFill>
                      <a:srgbClr val="FFFFFF"/>
                    </a:solidFill>
                  </a:tcPr>
                </a:tc>
                <a:tc>
                  <a:txBody>
                    <a:bodyPr wrap="square"/>
                    <a:lstStyle/>
                    <a:p>
                      <a:r>
                        <a:rPr sz="1100" b="0" i="1">
                          <a:solidFill>
                            <a:srgbClr val="5C5C61"/>
                          </a:solidFill>
                          <a:latin typeface="Arial"/>
                        </a:rPr>
                        <a:t>“A heading has been supplied by the editors for each document included in the volume.”</a:t>
                      </a:r>
                    </a:p>
                  </a:txBody>
                  <a:tcPr marL="109728" marR="109728" marT="45720" marB="45720" anchor="ctr">
                    <a:solidFill>
                      <a:srgbClr val="FFFFFF"/>
                    </a:solidFill>
                  </a:tcPr>
                </a:tc>
                <a:tc>
                  <a:txBody>
                    <a:bodyPr wrap="square"/>
                    <a:lstStyle/>
                    <a:p>
                      <a:r>
                        <a:rPr sz="1200" b="0" i="0">
                          <a:solidFill>
                            <a:srgbClr val="1C1C1E"/>
                          </a:solidFill>
                          <a:latin typeface="Arial"/>
                        </a:rPr>
                        <a:t>Results, Browse, citations and collections list documents under those headings</a:t>
                      </a:r>
                    </a:p>
                  </a:txBody>
                  <a:tcPr marL="109728" marR="109728" marT="45720" marB="45720" anchor="ctr">
                    <a:solidFill>
                      <a:srgbClr val="FFFFFF"/>
                    </a:solidFill>
                  </a:tcPr>
                </a:tc>
              </a:tr>
              <a:tr h="525780">
                <a:tc>
                  <a:txBody>
                    <a:bodyPr wrap="square"/>
                    <a:lstStyle/>
                    <a:p>
                      <a:r>
                        <a:rPr sz="1200" b="1" i="0">
                          <a:solidFill>
                            <a:srgbClr val="1C1C1E"/>
                          </a:solidFill>
                          <a:latin typeface="Arial"/>
                        </a:rPr>
                        <a:t>Where the original is</a:t>
                      </a:r>
                    </a:p>
                  </a:txBody>
                  <a:tcPr marL="109728" marR="109728" marT="45720" marB="45720" anchor="ctr">
                    <a:solidFill>
                      <a:srgbClr val="F2F2F4"/>
                    </a:solidFill>
                  </a:tcPr>
                </a:tc>
                <a:tc>
                  <a:txBody>
                    <a:bodyPr wrap="square"/>
                    <a:lstStyle/>
                    <a:p>
                      <a:r>
                        <a:rPr sz="1100" b="0" i="1">
                          <a:solidFill>
                            <a:srgbClr val="5C5C61"/>
                          </a:solidFill>
                          <a:latin typeface="Arial"/>
                        </a:rPr>
                        <a:t>“The first footnote to each document indicates the document's source, original classification, distribution, and drafting information.”</a:t>
                      </a:r>
                    </a:p>
                  </a:txBody>
                  <a:tcPr marL="109728" marR="109728" marT="45720" marB="45720" anchor="ctr">
                    <a:solidFill>
                      <a:srgbClr val="F2F2F4"/>
                    </a:solidFill>
                  </a:tcPr>
                </a:tc>
                <a:tc>
                  <a:txBody>
                    <a:bodyPr wrap="square"/>
                    <a:lstStyle/>
                    <a:p>
                      <a:r>
                        <a:rPr sz="1200" b="0" i="0">
                          <a:solidFill>
                            <a:srgbClr val="1C1C1E"/>
                          </a:solidFill>
                          <a:latin typeface="Arial"/>
                        </a:rPr>
                        <a:t>Source Explorer, the Archives Visit packet, the provenance facet and Archival Analytics</a:t>
                      </a:r>
                    </a:p>
                  </a:txBody>
                  <a:tcPr marL="109728" marR="109728" marT="45720" marB="45720" anchor="ctr">
                    <a:solidFill>
                      <a:srgbClr val="F2F2F4"/>
                    </a:solidFill>
                  </a:tcPr>
                </a:tc>
              </a:tr>
              <a:tr h="525780">
                <a:tc>
                  <a:txBody>
                    <a:bodyPr wrap="square"/>
                    <a:lstStyle/>
                    <a:p>
                      <a:r>
                        <a:rPr sz="1200" b="1" i="0">
                          <a:solidFill>
                            <a:srgbClr val="1C1C1E"/>
                          </a:solidFill>
                          <a:latin typeface="Arial"/>
                        </a:rPr>
                        <a:t>How documents connect</a:t>
                      </a:r>
                    </a:p>
                  </a:txBody>
                  <a:tcPr marL="109728" marR="109728" marT="45720" marB="45720" anchor="ctr">
                    <a:solidFill>
                      <a:srgbClr val="FFFFFF"/>
                    </a:solidFill>
                  </a:tcPr>
                </a:tc>
                <a:tc>
                  <a:txBody>
                    <a:bodyPr wrap="square"/>
                    <a:lstStyle/>
                    <a:p>
                      <a:r>
                        <a:rPr sz="1100" b="0" i="1">
                          <a:solidFill>
                            <a:srgbClr val="5C5C61"/>
                          </a:solidFill>
                          <a:latin typeface="Arial"/>
                        </a:rPr>
                        <a:t>annotation that will “provide references to important related documents printed in other volumes”</a:t>
                      </a:r>
                    </a:p>
                  </a:txBody>
                  <a:tcPr marL="109728" marR="109728" marT="45720" marB="45720" anchor="ctr">
                    <a:solidFill>
                      <a:srgbClr val="FFFFFF"/>
                    </a:solidFill>
                  </a:tcPr>
                </a:tc>
                <a:tc>
                  <a:txBody>
                    <a:bodyPr wrap="square"/>
                    <a:lstStyle/>
                    <a:p>
                      <a:r>
                        <a:rPr sz="1200" b="0" i="0">
                          <a:solidFill>
                            <a:srgbClr val="1C1C1E"/>
                          </a:solidFill>
                          <a:latin typeface="Arial"/>
                        </a:rPr>
                        <a:t>Live links, the Cross-Reference Graph and Cross-Reference Analytics</a:t>
                      </a:r>
                    </a:p>
                  </a:txBody>
                  <a:tcPr marL="109728" marR="109728" marT="45720" marB="45720" anchor="ctr">
                    <a:solidFill>
                      <a:srgbClr val="FFFFFF"/>
                    </a:solidFill>
                  </a:tcPr>
                </a:tc>
              </a:tr>
              <a:tr h="525780">
                <a:tc>
                  <a:txBody>
                    <a:bodyPr wrap="square"/>
                    <a:lstStyle/>
                    <a:p>
                      <a:r>
                        <a:rPr sz="1200" b="1" i="0">
                          <a:solidFill>
                            <a:srgbClr val="1C1C1E"/>
                          </a:solidFill>
                          <a:latin typeface="Arial"/>
                        </a:rPr>
                        <a:t>What isn't there</a:t>
                      </a:r>
                    </a:p>
                  </a:txBody>
                  <a:tcPr marL="109728" marR="109728" marT="45720" marB="45720" anchor="ctr">
                    <a:solidFill>
                      <a:srgbClr val="F2F2F4"/>
                    </a:solidFill>
                  </a:tcPr>
                </a:tc>
                <a:tc>
                  <a:txBody>
                    <a:bodyPr wrap="square"/>
                    <a:lstStyle/>
                    <a:p>
                      <a:r>
                        <a:rPr sz="1100" b="0" i="1">
                          <a:solidFill>
                            <a:srgbClr val="5C5C61"/>
                          </a:solidFill>
                          <a:latin typeface="Arial"/>
                        </a:rPr>
                        <a:t>editorial notes “summarize pertinent material not printed”; withheld text is marked with the lines or pages omitted</a:t>
                      </a:r>
                    </a:p>
                  </a:txBody>
                  <a:tcPr marL="109728" marR="109728" marT="45720" marB="45720" anchor="ctr">
                    <a:solidFill>
                      <a:srgbClr val="F2F2F4"/>
                    </a:solidFill>
                  </a:tcPr>
                </a:tc>
                <a:tc>
                  <a:txBody>
                    <a:bodyPr wrap="square"/>
                    <a:lstStyle/>
                    <a:p>
                      <a:r>
                        <a:rPr sz="1200" b="0" i="0">
                          <a:solidFill>
                            <a:srgbClr val="1C1C1E"/>
                          </a:solidFill>
                          <a:latin typeface="Arial"/>
                        </a:rPr>
                        <a:t>Editorial notes are searchable; the packet lists files the editors cited but didn't print</a:t>
                      </a:r>
                    </a:p>
                  </a:txBody>
                  <a:tcPr marL="109728" marR="109728" marT="45720" marB="45720" anchor="ctr">
                    <a:solidFill>
                      <a:srgbClr val="F2F2F4"/>
                    </a:solidFill>
                  </a:tcPr>
                </a:tc>
              </a:tr>
              <a:tr h="525780">
                <a:tc>
                  <a:txBody>
                    <a:bodyPr wrap="square"/>
                    <a:lstStyle/>
                    <a:p>
                      <a:r>
                        <a:rPr sz="1200" b="1" i="0">
                          <a:solidFill>
                            <a:srgbClr val="1C1C1E"/>
                          </a:solidFill>
                          <a:latin typeface="Arial"/>
                        </a:rPr>
                        <a:t>Who is speaking</a:t>
                      </a:r>
                    </a:p>
                  </a:txBody>
                  <a:tcPr marL="109728" marR="109728" marT="45720" marB="45720" anchor="ctr">
                    <a:solidFill>
                      <a:srgbClr val="FFFFFF"/>
                    </a:solidFill>
                  </a:tcPr>
                </a:tc>
                <a:tc>
                  <a:txBody>
                    <a:bodyPr wrap="square"/>
                    <a:lstStyle/>
                    <a:p>
                      <a:r>
                        <a:rPr sz="1100" b="0" i="1">
                          <a:solidFill>
                            <a:srgbClr val="5C5C61"/>
                          </a:solidFill>
                          <a:latin typeface="Arial"/>
                        </a:rPr>
                        <a:t>lists of persons and of abbreviations and terms in the front matter</a:t>
                      </a:r>
                    </a:p>
                  </a:txBody>
                  <a:tcPr marL="109728" marR="109728" marT="45720" marB="45720" anchor="ctr">
                    <a:solidFill>
                      <a:srgbClr val="FFFFFF"/>
                    </a:solidFill>
                  </a:tcPr>
                </a:tc>
                <a:tc>
                  <a:txBody>
                    <a:bodyPr wrap="square"/>
                    <a:lstStyle/>
                    <a:p>
                      <a:r>
                        <a:rPr sz="1200" b="0" i="0">
                          <a:solidFill>
                            <a:srgbClr val="1C1C1E"/>
                          </a:solidFill>
                          <a:latin typeface="Arial"/>
                        </a:rPr>
                        <a:t>Person cards, the People browser, the person facet and Person Analytics</a:t>
                      </a:r>
                    </a:p>
                  </a:txBody>
                  <a:tcPr marL="109728" marR="109728" marT="45720" marB="45720" anchor="ctr">
                    <a:solidFill>
                      <a:srgbClr val="FFFFFF"/>
                    </a:solidFill>
                  </a:tcPr>
                </a:tc>
              </a:tr>
            </a:tbl>
          </a:graphicData>
        </a:graphic>
      </p:graphicFrame>
      <p:sp>
        <p:nvSpPr>
          <p:cNvPr id="5" name="TextBox 4"/>
          <p:cNvSpPr txBox="1"/>
          <p:nvPr/>
        </p:nvSpPr>
        <p:spPr>
          <a:xfrm>
            <a:off x="548640" y="6144768"/>
            <a:ext cx="11094415" cy="274320"/>
          </a:xfrm>
          <a:prstGeom prst="rect">
            <a:avLst/>
          </a:prstGeom>
          <a:noFill/>
        </p:spPr>
        <p:txBody>
          <a:bodyPr wrap="square" anchor="t" lIns="0" rIns="0" tIns="0" bIns="0">
            <a:spAutoFit/>
          </a:bodyPr>
          <a:lstStyle/>
          <a:p>
            <a:pPr algn="l"/>
            <a:r>
              <a:rPr sz="900" b="0" i="1">
                <a:solidFill>
                  <a:srgbClr val="5C5C61"/>
                </a:solidFill>
                <a:latin typeface="Arial"/>
              </a:rPr>
              <a:t>Middle column: the preface's “Editorial Methodology”, Foreign Relations of the United States, 1969–1976, vol. E–9, part 1 (2014), public domain. Of 553 volumes, 51 carry no source note paired with a document, nearly all published before 1910.</a:t>
            </a:r>
          </a:p>
        </p:txBody>
      </p:sp>
      <p:sp>
        <p:nvSpPr>
          <p:cNvPr id="6" name="TextBox 5"/>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7" name="TextBox 6"/>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FOR EVERYONE · 1 OF 3</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Search 553 volumes of the U.S. diplomatic record. Offline</a:t>
            </a:r>
          </a:p>
        </p:txBody>
      </p:sp>
      <p:pic>
        <p:nvPicPr>
          <p:cNvPr id="4" name="Picture 3" descr="Docs__screenshots__macos__search.jpg"/>
          <p:cNvPicPr>
            <a:picLocks noChangeAspect="1"/>
          </p:cNvPicPr>
          <p:nvPr/>
        </p:nvPicPr>
        <p:blipFill>
          <a:blip r:embed="rId2"/>
          <a:stretch>
            <a:fillRect/>
          </a:stretch>
        </p:blipFill>
        <p:spPr>
          <a:xfrm>
            <a:off x="5132527" y="1920240"/>
            <a:ext cx="6510528" cy="4069080"/>
          </a:xfrm>
          <a:prstGeom prst="rect">
            <a:avLst/>
          </a:prstGeom>
          <a:ln w="9525">
            <a:solidFill>
              <a:srgbClr val="D6D6DA"/>
            </a:solidFill>
          </a:ln>
        </p:spPr>
      </p:pic>
      <p:sp>
        <p:nvSpPr>
          <p:cNvPr id="5" name="TextBox 4"/>
          <p:cNvSpPr txBox="1"/>
          <p:nvPr/>
        </p:nvSpPr>
        <p:spPr>
          <a:xfrm>
            <a:off x="548640" y="1965960"/>
            <a:ext cx="4172407" cy="1280160"/>
          </a:xfrm>
          <a:prstGeom prst="rect">
            <a:avLst/>
          </a:prstGeom>
          <a:noFill/>
        </p:spPr>
        <p:txBody>
          <a:bodyPr wrap="square" anchor="t" lIns="0" rIns="0" tIns="0" bIns="0">
            <a:spAutoFit/>
          </a:bodyPr>
          <a:lstStyle/>
          <a:p>
            <a:pPr algn="l">
              <a:lnSpc>
                <a:spcPct val="118000"/>
              </a:lnSpc>
            </a:pPr>
            <a:r>
              <a:rPr sz="1500" b="0" i="0">
                <a:solidFill>
                  <a:srgbClr val="1C1C1E"/>
                </a:solidFill>
                <a:latin typeface="Arial"/>
              </a:rPr>
              <a:t>Full-text search with phrases, proximity and exact words, faceted by year, volume, person, document type, archival provenance and subject.</a:t>
            </a:r>
          </a:p>
        </p:txBody>
      </p:sp>
      <p:sp>
        <p:nvSpPr>
          <p:cNvPr id="6" name="TextBox 5"/>
          <p:cNvSpPr txBox="1"/>
          <p:nvPr/>
        </p:nvSpPr>
        <p:spPr>
          <a:xfrm>
            <a:off x="548640" y="3337560"/>
            <a:ext cx="4172407" cy="274320"/>
          </a:xfrm>
          <a:prstGeom prst="rect">
            <a:avLst/>
          </a:prstGeom>
          <a:noFill/>
        </p:spPr>
        <p:txBody>
          <a:bodyPr wrap="square" anchor="t" lIns="0" rIns="0" tIns="0" bIns="0">
            <a:spAutoFit/>
          </a:bodyPr>
          <a:lstStyle/>
          <a:p>
            <a:pPr algn="l"/>
            <a:r>
              <a:rPr sz="1000" b="1" i="0" spc="120">
                <a:solidFill>
                  <a:srgbClr val="A61C2A"/>
                </a:solidFill>
                <a:latin typeface="Arial"/>
              </a:rPr>
              <a:t>BUILT ON THE OFFICE'S TEI EDITIONS</a:t>
            </a:r>
          </a:p>
        </p:txBody>
      </p:sp>
      <p:sp>
        <p:nvSpPr>
          <p:cNvPr id="7" name="TextBox 6"/>
          <p:cNvSpPr txBox="1"/>
          <p:nvPr/>
        </p:nvSpPr>
        <p:spPr>
          <a:xfrm>
            <a:off x="548640" y="3611880"/>
            <a:ext cx="4172407" cy="2377440"/>
          </a:xfrm>
          <a:prstGeom prst="rect">
            <a:avLst/>
          </a:prstGeom>
          <a:noFill/>
        </p:spPr>
        <p:txBody>
          <a:bodyPr wrap="square" anchor="t" lIns="0" rIns="0" tIns="0" bIns="0">
            <a:spAutoFit/>
          </a:bodyPr>
          <a:lstStyle/>
          <a:p>
            <a:pPr algn="l" marL="201168" indent="-201168">
              <a:lnSpc>
                <a:spcPct val="112000"/>
              </a:lnSpc>
              <a:spcAft>
                <a:spcPts val="600"/>
              </a:spcAft>
              <a:buChar char="•"/>
            </a:pPr>
            <a:r>
              <a:rPr sz="1200" b="0" i="0">
                <a:solidFill>
                  <a:srgbClr val="5C5C61"/>
                </a:solidFill>
                <a:latin typeface="Arial"/>
              </a:rPr>
              <a:t>The Office of the Historian encodes each volume in TEI, with the editors' dates, people, document types and source notes marked. The app indexes that encoding whole, on your device, and adds:</a:t>
            </a:r>
          </a:p>
          <a:p>
            <a:pPr algn="l" marL="201168" indent="-201168">
              <a:lnSpc>
                <a:spcPct val="112000"/>
              </a:lnSpc>
              <a:spcAft>
                <a:spcPts val="600"/>
              </a:spcAft>
              <a:buChar char="•"/>
            </a:pPr>
            <a:r>
              <a:rPr sz="1200" b="0" i="0">
                <a:solidFill>
                  <a:srgbClr val="5C5C61"/>
                </a:solidFill>
                <a:latin typeface="Arial"/>
              </a:rPr>
              <a:t>Facets that count the whole match before you narrow it: year, volume, the people the editors tagged, document or editorial note, and where the original is filed.</a:t>
            </a:r>
          </a:p>
          <a:p>
            <a:pPr algn="l" marL="201168" indent="-201168">
              <a:lnSpc>
                <a:spcPct val="112000"/>
              </a:lnSpc>
              <a:spcAft>
                <a:spcPts val="600"/>
              </a:spcAft>
              <a:buChar char="•"/>
            </a:pPr>
            <a:r>
              <a:rPr sz="1200" b="0" i="0">
                <a:solidFill>
                  <a:srgbClr val="5C5C61"/>
                </a:solidFill>
                <a:latin typeface="Arial"/>
              </a:rPr>
              <a:t>A scope you can save, or a result set frozen as a working corpus, a denominator you can cite.</a:t>
            </a:r>
          </a:p>
          <a:p>
            <a:pPr algn="l" marL="201168" indent="-201168">
              <a:lnSpc>
                <a:spcPct val="112000"/>
              </a:lnSpc>
              <a:spcAft>
                <a:spcPts val="600"/>
              </a:spcAft>
              <a:buChar char="•"/>
            </a:pPr>
            <a:r>
              <a:rPr sz="1200" b="0" i="0">
                <a:solidFill>
                  <a:srgbClr val="5C5C61"/>
                </a:solidFill>
                <a:latin typeface="Arial"/>
              </a:rPr>
              <a:t>The Query Inspector, and four readings of a result set: ranked list, timeline, concordance and collocates. All of it offline.</a:t>
            </a:r>
          </a:p>
        </p:txBody>
      </p:sp>
      <p:sp>
        <p:nvSpPr>
          <p:cNvPr id="8" name="TextBox 7"/>
          <p:cNvSpPr txBox="1"/>
          <p:nvPr/>
        </p:nvSpPr>
        <p:spPr>
          <a:xfrm>
            <a:off x="5132527" y="6044184"/>
            <a:ext cx="6510528" cy="274320"/>
          </a:xfrm>
          <a:prstGeom prst="rect">
            <a:avLst/>
          </a:prstGeom>
          <a:noFill/>
        </p:spPr>
        <p:txBody>
          <a:bodyPr wrap="square" anchor="t" lIns="0" rIns="0" tIns="0" bIns="0">
            <a:spAutoFit/>
          </a:bodyPr>
          <a:lstStyle/>
          <a:p>
            <a:pPr algn="l"/>
            <a:r>
              <a:rPr sz="900" b="0" i="1">
                <a:solidFill>
                  <a:srgbClr val="5C5C61"/>
                </a:solidFill>
                <a:latin typeface="Arial"/>
              </a:rPr>
              <a:t>Search on the Mac, with the Facets inspector open. Build 1861.</a:t>
            </a:r>
          </a:p>
        </p:txBody>
      </p:sp>
      <p:sp>
        <p:nvSpPr>
          <p:cNvPr id="9" name="TextBox 8"/>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0" name="TextBox 9"/>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FOR EVERYONE · 2 OF 3</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Read it as printed. Keep what you find</a:t>
            </a:r>
          </a:p>
        </p:txBody>
      </p:sp>
      <p:pic>
        <p:nvPicPr>
          <p:cNvPr id="4" name="Picture 3" descr="Docs__screenshots__ipad__research-rail.jpg"/>
          <p:cNvPicPr>
            <a:picLocks noChangeAspect="1"/>
          </p:cNvPicPr>
          <p:nvPr/>
        </p:nvPicPr>
        <p:blipFill>
          <a:blip r:embed="rId2"/>
          <a:stretch>
            <a:fillRect/>
          </a:stretch>
        </p:blipFill>
        <p:spPr>
          <a:xfrm>
            <a:off x="548640" y="1920240"/>
            <a:ext cx="5425440" cy="4069080"/>
          </a:xfrm>
          <a:prstGeom prst="rect">
            <a:avLst/>
          </a:prstGeom>
          <a:ln w="9525">
            <a:solidFill>
              <a:srgbClr val="D6D6DA"/>
            </a:solidFill>
          </a:ln>
        </p:spPr>
      </p:pic>
      <p:sp>
        <p:nvSpPr>
          <p:cNvPr id="5" name="TextBox 4"/>
          <p:cNvSpPr txBox="1"/>
          <p:nvPr/>
        </p:nvSpPr>
        <p:spPr>
          <a:xfrm>
            <a:off x="6385560" y="1965960"/>
            <a:ext cx="5257495" cy="1371600"/>
          </a:xfrm>
          <a:prstGeom prst="rect">
            <a:avLst/>
          </a:prstGeom>
          <a:noFill/>
        </p:spPr>
        <p:txBody>
          <a:bodyPr wrap="square" anchor="t" lIns="0" rIns="0" tIns="0" bIns="0">
            <a:spAutoFit/>
          </a:bodyPr>
          <a:lstStyle/>
          <a:p>
            <a:pPr algn="l">
              <a:lnSpc>
                <a:spcPct val="118000"/>
              </a:lnSpc>
            </a:pPr>
            <a:r>
              <a:rPr sz="1500" b="0" i="0">
                <a:solidFill>
                  <a:srgbClr val="1C1C1E"/>
                </a:solidFill>
                <a:latin typeface="Arial"/>
              </a:rPr>
              <a:t>The editors' headings, footnotes and cross-references, live, with a research rail beside the text for notes, highlights, tags, summaries and citations.</a:t>
            </a:r>
          </a:p>
        </p:txBody>
      </p:sp>
      <p:sp>
        <p:nvSpPr>
          <p:cNvPr id="6" name="TextBox 5"/>
          <p:cNvSpPr txBox="1"/>
          <p:nvPr/>
        </p:nvSpPr>
        <p:spPr>
          <a:xfrm>
            <a:off x="6385560" y="3383280"/>
            <a:ext cx="5257495" cy="274320"/>
          </a:xfrm>
          <a:prstGeom prst="rect">
            <a:avLst/>
          </a:prstGeom>
          <a:noFill/>
        </p:spPr>
        <p:txBody>
          <a:bodyPr wrap="square" anchor="t" lIns="0" rIns="0" tIns="0" bIns="0">
            <a:spAutoFit/>
          </a:bodyPr>
          <a:lstStyle/>
          <a:p>
            <a:pPr algn="l"/>
            <a:r>
              <a:rPr sz="1000" b="1" i="0" spc="120">
                <a:solidFill>
                  <a:srgbClr val="A61C2A"/>
                </a:solidFill>
                <a:latin typeface="Arial"/>
              </a:rPr>
              <a:t>FRUS TEXT, KEPT APART FROM YOURS</a:t>
            </a:r>
          </a:p>
        </p:txBody>
      </p:sp>
      <p:sp>
        <p:nvSpPr>
          <p:cNvPr id="7" name="TextBox 6"/>
          <p:cNvSpPr txBox="1"/>
          <p:nvPr/>
        </p:nvSpPr>
        <p:spPr>
          <a:xfrm>
            <a:off x="6385560" y="3657600"/>
            <a:ext cx="5257495" cy="2377440"/>
          </a:xfrm>
          <a:prstGeom prst="rect">
            <a:avLst/>
          </a:prstGeom>
          <a:noFill/>
        </p:spPr>
        <p:txBody>
          <a:bodyPr wrap="square" anchor="t" lIns="0" rIns="0" tIns="0" bIns="0">
            <a:spAutoFit/>
          </a:bodyPr>
          <a:lstStyle/>
          <a:p>
            <a:pPr algn="l" marL="201168" indent="-201168">
              <a:lnSpc>
                <a:spcPct val="112000"/>
              </a:lnSpc>
              <a:spcAft>
                <a:spcPts val="600"/>
              </a:spcAft>
              <a:buChar char="•"/>
            </a:pPr>
            <a:r>
              <a:rPr sz="1200" b="0" i="0">
                <a:solidFill>
                  <a:srgbClr val="5C5C61"/>
                </a:solidFill>
                <a:latin typeface="Arial"/>
              </a:rPr>
              <a:t>Documents render from the Office's own TEI with footnotes, page breaks, cross-references and person links live.</a:t>
            </a:r>
          </a:p>
          <a:p>
            <a:pPr algn="l" marL="201168" indent="-201168">
              <a:lnSpc>
                <a:spcPct val="112000"/>
              </a:lnSpc>
              <a:spcAft>
                <a:spcPts val="600"/>
              </a:spcAft>
              <a:buChar char="•"/>
            </a:pPr>
            <a:r>
              <a:rPr sz="1200" b="0" i="0">
                <a:solidFill>
                  <a:srgbClr val="5C5C61"/>
                </a:solidFill>
                <a:latin typeface="Arial"/>
              </a:rPr>
              <a:t>Highlight, annotate and tag; file it all under a project. The app never mixes your notes into the published text.</a:t>
            </a:r>
          </a:p>
          <a:p>
            <a:pPr algn="l" marL="201168" indent="-201168">
              <a:lnSpc>
                <a:spcPct val="112000"/>
              </a:lnSpc>
              <a:spcAft>
                <a:spcPts val="600"/>
              </a:spcAft>
              <a:buChar char="•"/>
            </a:pPr>
            <a:r>
              <a:rPr sz="1200" b="0" i="0">
                <a:solidFill>
                  <a:srgbClr val="5C5C61"/>
                </a:solidFill>
                <a:latin typeface="Arial"/>
              </a:rPr>
              <a:t>Cite in the Department's style, in BibTeX or RIS, or straight into Zotero. Every citation credits the volume's editors by name.</a:t>
            </a:r>
          </a:p>
          <a:p>
            <a:pPr algn="l" marL="201168" indent="-201168">
              <a:lnSpc>
                <a:spcPct val="112000"/>
              </a:lnSpc>
              <a:spcAft>
                <a:spcPts val="600"/>
              </a:spcAft>
              <a:buChar char="•"/>
            </a:pPr>
            <a:r>
              <a:rPr sz="1200" b="0" i="0">
                <a:solidFill>
                  <a:srgbClr val="5C5C61"/>
                </a:solidFill>
                <a:latin typeface="Arial"/>
              </a:rPr>
              <a:t>Summaries, on request, from Apple's on-device model, one document at a time, with authorship recorded.</a:t>
            </a:r>
          </a:p>
        </p:txBody>
      </p:sp>
      <p:sp>
        <p:nvSpPr>
          <p:cNvPr id="8" name="TextBox 7"/>
          <p:cNvSpPr txBox="1"/>
          <p:nvPr/>
        </p:nvSpPr>
        <p:spPr>
          <a:xfrm>
            <a:off x="548640" y="6035040"/>
            <a:ext cx="5425440" cy="274320"/>
          </a:xfrm>
          <a:prstGeom prst="rect">
            <a:avLst/>
          </a:prstGeom>
          <a:noFill/>
        </p:spPr>
        <p:txBody>
          <a:bodyPr wrap="square" anchor="t" lIns="0" rIns="0" tIns="0" bIns="0">
            <a:spAutoFit/>
          </a:bodyPr>
          <a:lstStyle/>
          <a:p>
            <a:pPr algn="l"/>
            <a:r>
              <a:rPr sz="900" b="0" i="1">
                <a:solidFill>
                  <a:srgbClr val="5C5C61"/>
                </a:solidFill>
                <a:latin typeface="Arial"/>
              </a:rPr>
              <a:t>The reader with the Research rail, iPad. Build 1861.</a:t>
            </a:r>
          </a:p>
        </p:txBody>
      </p:sp>
      <p:sp>
        <p:nvSpPr>
          <p:cNvPr id="9" name="TextBox 8"/>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0" name="TextBox 9"/>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217"/>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E8798A"/>
                </a:solidFill>
                <a:latin typeface="Arial"/>
              </a:rPr>
              <a:t>FOR EVERYONE · 3 OF 3</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F5F5F7"/>
                </a:solidFill>
                <a:latin typeface="Georgia"/>
              </a:rPr>
              <a:t>See the whole series at once</a:t>
            </a:r>
          </a:p>
        </p:txBody>
      </p:sp>
      <p:pic>
        <p:nvPicPr>
          <p:cNvPr id="4" name="Picture 3" descr="Docs__screenshots__ipad__semantic-map.jpg"/>
          <p:cNvPicPr>
            <a:picLocks noChangeAspect="1"/>
          </p:cNvPicPr>
          <p:nvPr/>
        </p:nvPicPr>
        <p:blipFill>
          <a:blip r:embed="rId2"/>
          <a:stretch>
            <a:fillRect/>
          </a:stretch>
        </p:blipFill>
        <p:spPr>
          <a:xfrm>
            <a:off x="6217615" y="1920240"/>
            <a:ext cx="5425440" cy="4069080"/>
          </a:xfrm>
          <a:prstGeom prst="rect">
            <a:avLst/>
          </a:prstGeom>
          <a:ln w="9525">
            <a:solidFill>
              <a:srgbClr val="2A2E36"/>
            </a:solidFill>
          </a:ln>
        </p:spPr>
      </p:pic>
      <p:sp>
        <p:nvSpPr>
          <p:cNvPr id="5" name="TextBox 4"/>
          <p:cNvSpPr txBox="1"/>
          <p:nvPr/>
        </p:nvSpPr>
        <p:spPr>
          <a:xfrm>
            <a:off x="548640" y="1965960"/>
            <a:ext cx="5257495" cy="1188720"/>
          </a:xfrm>
          <a:prstGeom prst="rect">
            <a:avLst/>
          </a:prstGeom>
          <a:noFill/>
        </p:spPr>
        <p:txBody>
          <a:bodyPr wrap="square" anchor="t" lIns="0" rIns="0" tIns="0" bIns="0">
            <a:spAutoFit/>
          </a:bodyPr>
          <a:lstStyle/>
          <a:p>
            <a:pPr algn="l">
              <a:lnSpc>
                <a:spcPct val="118000"/>
              </a:lnSpc>
            </a:pPr>
            <a:r>
              <a:rPr sz="1500" b="0" i="0">
                <a:solidFill>
                  <a:srgbClr val="F5F5F7"/>
                </a:solidFill>
                <a:latin typeface="Arial"/>
              </a:rPr>
              <a:t>314,616 documents placed by the language they share and named by the vocabulary that sets each region apart. Tap a document to open it, lasso a set to keep it.</a:t>
            </a:r>
          </a:p>
        </p:txBody>
      </p:sp>
      <p:sp>
        <p:nvSpPr>
          <p:cNvPr id="6" name="Rounded Rectangle 5"/>
          <p:cNvSpPr/>
          <p:nvPr/>
        </p:nvSpPr>
        <p:spPr>
          <a:xfrm>
            <a:off x="548640" y="3291840"/>
            <a:ext cx="2537307" cy="1600200"/>
          </a:xfrm>
          <a:prstGeom prst="roundRect">
            <a:avLst>
              <a:gd name="adj" fmla="val 5000"/>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493008"/>
            <a:ext cx="2080107" cy="777240"/>
          </a:xfrm>
          <a:prstGeom prst="rect">
            <a:avLst/>
          </a:prstGeom>
          <a:noFill/>
        </p:spPr>
        <p:txBody>
          <a:bodyPr wrap="square" anchor="b" lIns="0" rIns="0" tIns="0" bIns="0">
            <a:spAutoFit/>
          </a:bodyPr>
          <a:lstStyle/>
          <a:p>
            <a:pPr algn="l"/>
            <a:r>
              <a:rPr sz="3200" b="1" i="0">
                <a:solidFill>
                  <a:srgbClr val="E8798A"/>
                </a:solidFill>
                <a:latin typeface="Georgia"/>
              </a:rPr>
              <a:t>140</a:t>
            </a:r>
          </a:p>
        </p:txBody>
      </p:sp>
      <p:sp>
        <p:nvSpPr>
          <p:cNvPr id="8" name="TextBox 7"/>
          <p:cNvSpPr txBox="1"/>
          <p:nvPr/>
        </p:nvSpPr>
        <p:spPr>
          <a:xfrm>
            <a:off x="777240" y="4297680"/>
            <a:ext cx="2080107" cy="502920"/>
          </a:xfrm>
          <a:prstGeom prst="rect">
            <a:avLst/>
          </a:prstGeom>
          <a:noFill/>
        </p:spPr>
        <p:txBody>
          <a:bodyPr wrap="square" anchor="t" lIns="0" rIns="0" tIns="0" bIns="0">
            <a:spAutoFit/>
          </a:bodyPr>
          <a:lstStyle/>
          <a:p>
            <a:pPr algn="l">
              <a:lnSpc>
                <a:spcPct val="110000"/>
              </a:lnSpc>
            </a:pPr>
            <a:r>
              <a:rPr sz="1300" b="0" i="0">
                <a:solidFill>
                  <a:srgbClr val="A8A8B0"/>
                </a:solidFill>
                <a:latin typeface="Arial"/>
              </a:rPr>
              <a:t>regions, named by their own vocabulary</a:t>
            </a:r>
          </a:p>
        </p:txBody>
      </p:sp>
      <p:sp>
        <p:nvSpPr>
          <p:cNvPr id="9" name="Rounded Rectangle 8"/>
          <p:cNvSpPr/>
          <p:nvPr/>
        </p:nvSpPr>
        <p:spPr>
          <a:xfrm>
            <a:off x="3268827" y="3291840"/>
            <a:ext cx="2537307" cy="1600200"/>
          </a:xfrm>
          <a:prstGeom prst="roundRect">
            <a:avLst>
              <a:gd name="adj" fmla="val 5000"/>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7427" y="3493008"/>
            <a:ext cx="2080107" cy="777240"/>
          </a:xfrm>
          <a:prstGeom prst="rect">
            <a:avLst/>
          </a:prstGeom>
          <a:noFill/>
        </p:spPr>
        <p:txBody>
          <a:bodyPr wrap="square" anchor="b" lIns="0" rIns="0" tIns="0" bIns="0">
            <a:spAutoFit/>
          </a:bodyPr>
          <a:lstStyle/>
          <a:p>
            <a:pPr algn="l"/>
            <a:r>
              <a:rPr sz="3200" b="1" i="0">
                <a:solidFill>
                  <a:srgbClr val="E8798A"/>
                </a:solidFill>
                <a:latin typeface="Georgia"/>
              </a:rPr>
              <a:t>0</a:t>
            </a:r>
          </a:p>
        </p:txBody>
      </p:sp>
      <p:sp>
        <p:nvSpPr>
          <p:cNvPr id="11" name="TextBox 10"/>
          <p:cNvSpPr txBox="1"/>
          <p:nvPr/>
        </p:nvSpPr>
        <p:spPr>
          <a:xfrm>
            <a:off x="3497427" y="4297680"/>
            <a:ext cx="2080107" cy="502920"/>
          </a:xfrm>
          <a:prstGeom prst="rect">
            <a:avLst/>
          </a:prstGeom>
          <a:noFill/>
        </p:spPr>
        <p:txBody>
          <a:bodyPr wrap="square" anchor="t" lIns="0" rIns="0" tIns="0" bIns="0">
            <a:spAutoFit/>
          </a:bodyPr>
          <a:lstStyle/>
          <a:p>
            <a:pPr algn="l">
              <a:lnSpc>
                <a:spcPct val="110000"/>
              </a:lnSpc>
            </a:pPr>
            <a:r>
              <a:rPr sz="1300" b="0" i="0">
                <a:solidFill>
                  <a:srgbClr val="A8A8B0"/>
                </a:solidFill>
                <a:latin typeface="Arial"/>
              </a:rPr>
              <a:t>volumes needed: the map ships inside the app</a:t>
            </a:r>
          </a:p>
        </p:txBody>
      </p:sp>
      <p:sp>
        <p:nvSpPr>
          <p:cNvPr id="12" name="TextBox 11"/>
          <p:cNvSpPr txBox="1"/>
          <p:nvPr/>
        </p:nvSpPr>
        <p:spPr>
          <a:xfrm>
            <a:off x="6217615" y="6044184"/>
            <a:ext cx="5425440" cy="274320"/>
          </a:xfrm>
          <a:prstGeom prst="rect">
            <a:avLst/>
          </a:prstGeom>
          <a:noFill/>
        </p:spPr>
        <p:txBody>
          <a:bodyPr wrap="square" anchor="t" lIns="0" rIns="0" tIns="0" bIns="0">
            <a:spAutoFit/>
          </a:bodyPr>
          <a:lstStyle/>
          <a:p>
            <a:pPr algn="l"/>
            <a:r>
              <a:rPr sz="900" b="0" i="1">
                <a:solidFill>
                  <a:srgbClr val="A8A8B0"/>
                </a:solidFill>
                <a:latin typeface="Arial"/>
              </a:rPr>
              <a:t>The semantic map, iPad. Build 1861.</a:t>
            </a:r>
          </a:p>
        </p:txBody>
      </p:sp>
      <p:sp>
        <p:nvSpPr>
          <p:cNvPr id="13" name="TextBox 12"/>
          <p:cNvSpPr txBox="1"/>
          <p:nvPr/>
        </p:nvSpPr>
        <p:spPr>
          <a:xfrm>
            <a:off x="548640" y="5120640"/>
            <a:ext cx="5257495" cy="822960"/>
          </a:xfrm>
          <a:prstGeom prst="rect">
            <a:avLst/>
          </a:prstGeom>
          <a:noFill/>
        </p:spPr>
        <p:txBody>
          <a:bodyPr wrap="square" anchor="t" lIns="0" rIns="0" tIns="0" bIns="0">
            <a:spAutoFit/>
          </a:bodyPr>
          <a:lstStyle/>
          <a:p>
            <a:pPr algn="l">
              <a:lnSpc>
                <a:spcPct val="112000"/>
              </a:lnSpc>
            </a:pPr>
            <a:r>
              <a:rPr sz="1000" b="0" i="0">
                <a:solidFill>
                  <a:srgbClr val="E8798A"/>
                </a:solidFill>
                <a:latin typeface="Arial"/>
              </a:rPr>
              <a:t>Experimental. This is an AI model's reading of the language, not an editorial fact, and its quality before 1900 has not been measured. Layout preserves local similarity; distances between far regions are not meaningful.</a:t>
            </a:r>
          </a:p>
        </p:txBody>
      </p:sp>
      <p:sp>
        <p:nvSpPr>
          <p:cNvPr id="14" name="TextBox 13"/>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A8A8B0"/>
                </a:solidFill>
                <a:latin typeface="Arial"/>
              </a:rPr>
              <a:t>FRUS Explorer is an independent research tool. It is not an official product of the Office of the Historian or the U.S. Department of State. The FRUS series itself is in the public domain.</a:t>
            </a:r>
          </a:p>
        </p:txBody>
      </p:sp>
      <p:sp>
        <p:nvSpPr>
          <p:cNvPr id="15" name="TextBox 14"/>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A8A8B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WHO IT IS FOR</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Three audiences, three jobs, three lead features each</a:t>
            </a:r>
          </a:p>
        </p:txBody>
      </p:sp>
      <p:sp>
        <p:nvSpPr>
          <p:cNvPr id="4" name="Rounded Rectangle 3"/>
          <p:cNvSpPr/>
          <p:nvPr/>
        </p:nvSpPr>
        <p:spPr>
          <a:xfrm>
            <a:off x="548640"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57400"/>
            <a:ext cx="3108960" cy="411480"/>
          </a:xfrm>
          <a:prstGeom prst="rect">
            <a:avLst/>
          </a:prstGeom>
          <a:noFill/>
        </p:spPr>
        <p:txBody>
          <a:bodyPr wrap="square" anchor="t" lIns="0" rIns="0" tIns="0" bIns="0">
            <a:spAutoFit/>
          </a:bodyPr>
          <a:lstStyle/>
          <a:p>
            <a:pPr algn="l"/>
            <a:r>
              <a:rPr sz="2000" b="1" i="0">
                <a:solidFill>
                  <a:srgbClr val="A61C2A"/>
                </a:solidFill>
                <a:latin typeface="Georgia"/>
              </a:rPr>
              <a:t>Researchers</a:t>
            </a:r>
          </a:p>
        </p:txBody>
      </p:sp>
      <p:sp>
        <p:nvSpPr>
          <p:cNvPr id="6" name="TextBox 5"/>
          <p:cNvSpPr txBox="1"/>
          <p:nvPr/>
        </p:nvSpPr>
        <p:spPr>
          <a:xfrm>
            <a:off x="777240" y="2487168"/>
            <a:ext cx="3108960" cy="502920"/>
          </a:xfrm>
          <a:prstGeom prst="rect">
            <a:avLst/>
          </a:prstGeom>
          <a:noFill/>
        </p:spPr>
        <p:txBody>
          <a:bodyPr wrap="square" anchor="t" lIns="0" rIns="0" tIns="0" bIns="0">
            <a:spAutoFit/>
          </a:bodyPr>
          <a:lstStyle/>
          <a:p>
            <a:pPr algn="l">
              <a:lnSpc>
                <a:spcPct val="105000"/>
              </a:lnSpc>
            </a:pPr>
            <a:r>
              <a:rPr sz="1200" b="1" i="0">
                <a:solidFill>
                  <a:srgbClr val="1C1C1E"/>
                </a:solidFill>
                <a:latin typeface="Arial"/>
              </a:rPr>
              <a:t>Historians and graduate students</a:t>
            </a:r>
          </a:p>
        </p:txBody>
      </p:sp>
      <p:sp>
        <p:nvSpPr>
          <p:cNvPr id="7" name="TextBox 6"/>
          <p:cNvSpPr txBox="1"/>
          <p:nvPr/>
        </p:nvSpPr>
        <p:spPr>
          <a:xfrm>
            <a:off x="777240" y="3063240"/>
            <a:ext cx="3108960" cy="1188720"/>
          </a:xfrm>
          <a:prstGeom prst="rect">
            <a:avLst/>
          </a:prstGeom>
          <a:noFill/>
        </p:spPr>
        <p:txBody>
          <a:bodyPr wrap="square" anchor="t" lIns="0" rIns="0" tIns="0" bIns="0">
            <a:spAutoFit/>
          </a:bodyPr>
          <a:lstStyle/>
          <a:p>
            <a:pPr algn="l">
              <a:lnSpc>
                <a:spcPct val="112000"/>
              </a:lnSpc>
            </a:pPr>
            <a:r>
              <a:rPr sz="1200" b="0" i="1">
                <a:solidFill>
                  <a:srgbClr val="5C5C61"/>
                </a:solidFill>
                <a:latin typeface="Arial"/>
              </a:rPr>
              <a:t>Find everything on a question across the series, read it with the apparatus intact, keep the receipts, cite it, and know where the originals are before the trip.</a:t>
            </a:r>
          </a:p>
        </p:txBody>
      </p:sp>
      <p:sp>
        <p:nvSpPr>
          <p:cNvPr id="8" name="TextBox 7"/>
          <p:cNvSpPr txBox="1"/>
          <p:nvPr/>
        </p:nvSpPr>
        <p:spPr>
          <a:xfrm>
            <a:off x="777240" y="4297680"/>
            <a:ext cx="3108960" cy="1874519"/>
          </a:xfrm>
          <a:prstGeom prst="rect">
            <a:avLst/>
          </a:prstGeom>
          <a:noFill/>
        </p:spPr>
        <p:txBody>
          <a:bodyPr wrap="square" anchor="t" lIns="0" rIns="0" tIns="0" bIns="0">
            <a:spAutoFit/>
          </a:bodyPr>
          <a:lstStyle/>
          <a:p>
            <a:pPr algn="l" marL="201168" indent="-201168">
              <a:lnSpc>
                <a:spcPct val="110000"/>
              </a:lnSpc>
              <a:spcAft>
                <a:spcPts val="500"/>
              </a:spcAft>
              <a:buChar char="•"/>
            </a:pPr>
            <a:r>
              <a:rPr sz="1100" b="0" i="0">
                <a:solidFill>
                  <a:srgbClr val="1C1C1E"/>
                </a:solidFill>
                <a:latin typeface="Arial"/>
              </a:rPr>
              <a:t>Search with facets, working corpora and the Query Inspector: a result set they can defend.</a:t>
            </a:r>
          </a:p>
          <a:p>
            <a:pPr algn="l" marL="201168" indent="-201168">
              <a:lnSpc>
                <a:spcPct val="110000"/>
              </a:lnSpc>
              <a:spcAft>
                <a:spcPts val="500"/>
              </a:spcAft>
              <a:buChar char="•"/>
            </a:pPr>
            <a:r>
              <a:rPr sz="1100" b="0" i="0">
                <a:solidFill>
                  <a:srgbClr val="1C1C1E"/>
                </a:solidFill>
                <a:latin typeface="Arial"/>
              </a:rPr>
              <a:t>Source Explorer and the Archives Visit packet: the source note resolved, the RG, entry and NAID lines, the advance inquiry drafted.</a:t>
            </a:r>
          </a:p>
          <a:p>
            <a:pPr algn="l" marL="201168" indent="-201168">
              <a:lnSpc>
                <a:spcPct val="110000"/>
              </a:lnSpc>
              <a:spcAft>
                <a:spcPts val="500"/>
              </a:spcAft>
              <a:buChar char="•"/>
            </a:pPr>
            <a:r>
              <a:rPr sz="1100" b="0" i="0">
                <a:solidFill>
                  <a:srgbClr val="1C1C1E"/>
                </a:solidFill>
                <a:latin typeface="Arial"/>
              </a:rPr>
              <a:t>Cite, Zotero and the method appendix: the citation in the Department's style, the search log a committee can read.</a:t>
            </a:r>
          </a:p>
        </p:txBody>
      </p:sp>
      <p:sp>
        <p:nvSpPr>
          <p:cNvPr id="9" name="Rounded Rectangle 8"/>
          <p:cNvSpPr/>
          <p:nvPr/>
        </p:nvSpPr>
        <p:spPr>
          <a:xfrm>
            <a:off x="4297679"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2057400"/>
            <a:ext cx="3108960" cy="411480"/>
          </a:xfrm>
          <a:prstGeom prst="rect">
            <a:avLst/>
          </a:prstGeom>
          <a:noFill/>
        </p:spPr>
        <p:txBody>
          <a:bodyPr wrap="square" anchor="t" lIns="0" rIns="0" tIns="0" bIns="0">
            <a:spAutoFit/>
          </a:bodyPr>
          <a:lstStyle/>
          <a:p>
            <a:pPr algn="l"/>
            <a:r>
              <a:rPr sz="2000" b="1" i="0">
                <a:solidFill>
                  <a:srgbClr val="A61C2A"/>
                </a:solidFill>
                <a:latin typeface="Georgia"/>
              </a:rPr>
              <a:t>Teachers</a:t>
            </a:r>
          </a:p>
        </p:txBody>
      </p:sp>
      <p:sp>
        <p:nvSpPr>
          <p:cNvPr id="11" name="TextBox 10"/>
          <p:cNvSpPr txBox="1"/>
          <p:nvPr/>
        </p:nvSpPr>
        <p:spPr>
          <a:xfrm>
            <a:off x="4526279" y="2487168"/>
            <a:ext cx="3108960" cy="502920"/>
          </a:xfrm>
          <a:prstGeom prst="rect">
            <a:avLst/>
          </a:prstGeom>
          <a:noFill/>
        </p:spPr>
        <p:txBody>
          <a:bodyPr wrap="square" anchor="t" lIns="0" rIns="0" tIns="0" bIns="0">
            <a:spAutoFit/>
          </a:bodyPr>
          <a:lstStyle/>
          <a:p>
            <a:pPr algn="l">
              <a:lnSpc>
                <a:spcPct val="105000"/>
              </a:lnSpc>
            </a:pPr>
            <a:r>
              <a:rPr sz="1200" b="1" i="0">
                <a:solidFill>
                  <a:srgbClr val="1C1C1E"/>
                </a:solidFill>
                <a:latin typeface="Arial"/>
              </a:rPr>
              <a:t>Course readers, lecture material, classroom analytics</a:t>
            </a:r>
          </a:p>
        </p:txBody>
      </p:sp>
      <p:sp>
        <p:nvSpPr>
          <p:cNvPr id="12" name="TextBox 11"/>
          <p:cNvSpPr txBox="1"/>
          <p:nvPr/>
        </p:nvSpPr>
        <p:spPr>
          <a:xfrm>
            <a:off x="4526279" y="3063240"/>
            <a:ext cx="3108960" cy="1188720"/>
          </a:xfrm>
          <a:prstGeom prst="rect">
            <a:avLst/>
          </a:prstGeom>
          <a:noFill/>
        </p:spPr>
        <p:txBody>
          <a:bodyPr wrap="square" anchor="t" lIns="0" rIns="0" tIns="0" bIns="0">
            <a:spAutoFit/>
          </a:bodyPr>
          <a:lstStyle/>
          <a:p>
            <a:pPr algn="l">
              <a:lnSpc>
                <a:spcPct val="112000"/>
              </a:lnSpc>
            </a:pPr>
            <a:r>
              <a:rPr sz="1200" b="0" i="1">
                <a:solidFill>
                  <a:srgbClr val="5C5C61"/>
                </a:solidFill>
                <a:latin typeface="Arial"/>
              </a:rPr>
              <a:t>Assemble a reader for next week with framing and questions; put a document in front of thirty students without thirty logins; show, live, why the record looks the way it does.</a:t>
            </a:r>
          </a:p>
        </p:txBody>
      </p:sp>
      <p:sp>
        <p:nvSpPr>
          <p:cNvPr id="13" name="TextBox 12"/>
          <p:cNvSpPr txBox="1"/>
          <p:nvPr/>
        </p:nvSpPr>
        <p:spPr>
          <a:xfrm>
            <a:off x="4526279" y="4297680"/>
            <a:ext cx="3108960" cy="1874519"/>
          </a:xfrm>
          <a:prstGeom prst="rect">
            <a:avLst/>
          </a:prstGeom>
          <a:noFill/>
        </p:spPr>
        <p:txBody>
          <a:bodyPr wrap="square" anchor="t" lIns="0" rIns="0" tIns="0" bIns="0">
            <a:spAutoFit/>
          </a:bodyPr>
          <a:lstStyle/>
          <a:p>
            <a:pPr algn="l" marL="201168" indent="-201168">
              <a:lnSpc>
                <a:spcPct val="110000"/>
              </a:lnSpc>
              <a:spcAft>
                <a:spcPts val="500"/>
              </a:spcAft>
              <a:buChar char="•"/>
            </a:pPr>
            <a:r>
              <a:rPr sz="1100" b="0" i="0">
                <a:solidFill>
                  <a:srgbClr val="1C1C1E"/>
                </a:solidFill>
                <a:latin typeface="Arial"/>
              </a:rPr>
              <a:t>Collections with the Teaching reader preset, sections, excerpts, headnotes and front matter, exported to PDF or Word.</a:t>
            </a:r>
          </a:p>
          <a:p>
            <a:pPr algn="l" marL="201168" indent="-201168">
              <a:lnSpc>
                <a:spcPct val="110000"/>
              </a:lnSpc>
              <a:spcAft>
                <a:spcPts val="500"/>
              </a:spcAft>
              <a:buChar char="•"/>
            </a:pPr>
            <a:r>
              <a:rPr sz="1100" b="0" i="0">
                <a:solidFill>
                  <a:srgbClr val="1C1C1E"/>
                </a:solidFill>
                <a:latin typeface="Arial"/>
              </a:rPr>
              <a:t>A shareable collection file and Share Citation: the same set to every student, each annotating independently.</a:t>
            </a:r>
          </a:p>
          <a:p>
            <a:pPr algn="l" marL="201168" indent="-201168">
              <a:lnSpc>
                <a:spcPct val="110000"/>
              </a:lnSpc>
              <a:spcAft>
                <a:spcPts val="500"/>
              </a:spcAft>
              <a:buChar char="•"/>
            </a:pPr>
            <a:r>
              <a:rPr sz="1100" b="0" i="0">
                <a:solidFill>
                  <a:srgbClr val="1C1C1E"/>
                </a:solidFill>
                <a:latin typeface="Arial"/>
              </a:rPr>
              <a:t>The About the Series dashboards and Corpus Analytics with % of documents, all offline.</a:t>
            </a:r>
          </a:p>
        </p:txBody>
      </p:sp>
      <p:sp>
        <p:nvSpPr>
          <p:cNvPr id="14" name="Rounded Rectangle 13"/>
          <p:cNvSpPr/>
          <p:nvPr/>
        </p:nvSpPr>
        <p:spPr>
          <a:xfrm>
            <a:off x="8046719" y="1874519"/>
            <a:ext cx="3566160" cy="434340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2057400"/>
            <a:ext cx="3108960" cy="411480"/>
          </a:xfrm>
          <a:prstGeom prst="rect">
            <a:avLst/>
          </a:prstGeom>
          <a:noFill/>
        </p:spPr>
        <p:txBody>
          <a:bodyPr wrap="square" anchor="t" lIns="0" rIns="0" tIns="0" bIns="0">
            <a:spAutoFit/>
          </a:bodyPr>
          <a:lstStyle/>
          <a:p>
            <a:pPr algn="l"/>
            <a:r>
              <a:rPr sz="2000" b="1" i="0">
                <a:solidFill>
                  <a:srgbClr val="A61C2A"/>
                </a:solidFill>
                <a:latin typeface="Georgia"/>
              </a:rPr>
              <a:t>Policy analysts</a:t>
            </a:r>
          </a:p>
        </p:txBody>
      </p:sp>
      <p:sp>
        <p:nvSpPr>
          <p:cNvPr id="16" name="TextBox 15"/>
          <p:cNvSpPr txBox="1"/>
          <p:nvPr/>
        </p:nvSpPr>
        <p:spPr>
          <a:xfrm>
            <a:off x="8275319" y="2487168"/>
            <a:ext cx="3108960" cy="502920"/>
          </a:xfrm>
          <a:prstGeom prst="rect">
            <a:avLst/>
          </a:prstGeom>
          <a:noFill/>
        </p:spPr>
        <p:txBody>
          <a:bodyPr wrap="square" anchor="t" lIns="0" rIns="0" tIns="0" bIns="0">
            <a:spAutoFit/>
          </a:bodyPr>
          <a:lstStyle/>
          <a:p>
            <a:pPr algn="l">
              <a:lnSpc>
                <a:spcPct val="105000"/>
              </a:lnSpc>
            </a:pPr>
            <a:r>
              <a:rPr sz="1200" b="1" i="0">
                <a:solidFill>
                  <a:srgbClr val="1C1C1E"/>
                </a:solidFill>
                <a:latin typeface="Arial"/>
              </a:rPr>
              <a:t>Crisis chronologies, meaning search, who the record orbits</a:t>
            </a:r>
          </a:p>
        </p:txBody>
      </p:sp>
      <p:sp>
        <p:nvSpPr>
          <p:cNvPr id="17" name="TextBox 16"/>
          <p:cNvSpPr txBox="1"/>
          <p:nvPr/>
        </p:nvSpPr>
        <p:spPr>
          <a:xfrm>
            <a:off x="8275319" y="3063240"/>
            <a:ext cx="3108960" cy="1188720"/>
          </a:xfrm>
          <a:prstGeom prst="rect">
            <a:avLst/>
          </a:prstGeom>
          <a:noFill/>
        </p:spPr>
        <p:txBody>
          <a:bodyPr wrap="square" anchor="t" lIns="0" rIns="0" tIns="0" bIns="0">
            <a:spAutoFit/>
          </a:bodyPr>
          <a:lstStyle/>
          <a:p>
            <a:pPr algn="l">
              <a:lnSpc>
                <a:spcPct val="112000"/>
              </a:lnSpc>
            </a:pPr>
            <a:r>
              <a:rPr sz="1200" b="0" i="1">
                <a:solidFill>
                  <a:srgbClr val="5C5C61"/>
                </a:solidFill>
                <a:latin typeface="Arial"/>
              </a:rPr>
              <a:t>What did Washington know and argue in the month of a crisis, across every file that printed it? Who was in the room? What did the record say the last time this came up?</a:t>
            </a:r>
          </a:p>
        </p:txBody>
      </p:sp>
      <p:sp>
        <p:nvSpPr>
          <p:cNvPr id="18" name="TextBox 17"/>
          <p:cNvSpPr txBox="1"/>
          <p:nvPr/>
        </p:nvSpPr>
        <p:spPr>
          <a:xfrm>
            <a:off x="8275319" y="4297680"/>
            <a:ext cx="3108960" cy="1874519"/>
          </a:xfrm>
          <a:prstGeom prst="rect">
            <a:avLst/>
          </a:prstGeom>
          <a:noFill/>
        </p:spPr>
        <p:txBody>
          <a:bodyPr wrap="square" anchor="t" lIns="0" rIns="0" tIns="0" bIns="0">
            <a:spAutoFit/>
          </a:bodyPr>
          <a:lstStyle/>
          <a:p>
            <a:pPr algn="l" marL="201168" indent="-201168">
              <a:lnSpc>
                <a:spcPct val="110000"/>
              </a:lnSpc>
              <a:spcAft>
                <a:spcPts val="500"/>
              </a:spcAft>
              <a:buChar char="•"/>
            </a:pPr>
            <a:r>
              <a:rPr sz="1100" b="0" i="0">
                <a:solidFill>
                  <a:srgbClr val="1C1C1E"/>
                </a:solidFill>
                <a:latin typeface="Arial"/>
              </a:rPr>
              <a:t>Chronology: a date window, every dated document in it from every volume on the device.</a:t>
            </a:r>
          </a:p>
          <a:p>
            <a:pPr algn="l" marL="201168" indent="-201168">
              <a:lnSpc>
                <a:spcPct val="110000"/>
              </a:lnSpc>
              <a:spcAft>
                <a:spcPts val="500"/>
              </a:spcAft>
              <a:buChar char="•"/>
            </a:pPr>
            <a:r>
              <a:rPr sz="1100" b="0" i="0">
                <a:solidFill>
                  <a:srgbClr val="1C1C1E"/>
                </a:solidFill>
                <a:latin typeface="Arial"/>
              </a:rPr>
              <a:t>Search by meaning, on the device, and Person Analytics for who the record orbits.</a:t>
            </a:r>
          </a:p>
          <a:p>
            <a:pPr algn="l" marL="201168" indent="-201168">
              <a:lnSpc>
                <a:spcPct val="110000"/>
              </a:lnSpc>
              <a:spcAft>
                <a:spcPts val="500"/>
              </a:spcAft>
              <a:buChar char="•"/>
            </a:pPr>
            <a:r>
              <a:rPr sz="1100" b="0" i="0">
                <a:solidFill>
                  <a:srgbClr val="1C1C1E"/>
                </a:solidFill>
                <a:latin typeface="Arial"/>
              </a:rPr>
              <a:t>Corpus Analytics from a search, and the Briefing packet preset with on-device summaries.</a:t>
            </a:r>
          </a:p>
        </p:txBody>
      </p:sp>
      <p:sp>
        <p:nvSpPr>
          <p:cNvPr id="19" name="TextBox 18"/>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20" name="TextBox 19"/>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FOR RESEARCHERS</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From footnote to shelf, and the trip planned before you book it</a:t>
            </a:r>
          </a:p>
        </p:txBody>
      </p:sp>
      <p:pic>
        <p:nvPicPr>
          <p:cNvPr id="4" name="Picture 3" descr="Docs__screenshots__ipad__source-explorer.jpg"/>
          <p:cNvPicPr>
            <a:picLocks noChangeAspect="1"/>
          </p:cNvPicPr>
          <p:nvPr/>
        </p:nvPicPr>
        <p:blipFill>
          <a:blip r:embed="rId2"/>
          <a:stretch>
            <a:fillRect/>
          </a:stretch>
        </p:blipFill>
        <p:spPr>
          <a:xfrm>
            <a:off x="548640" y="1920240"/>
            <a:ext cx="3840479" cy="2880360"/>
          </a:xfrm>
          <a:prstGeom prst="rect">
            <a:avLst/>
          </a:prstGeom>
          <a:ln w="9525">
            <a:solidFill>
              <a:srgbClr val="D6D6DA"/>
            </a:solidFill>
          </a:ln>
        </p:spPr>
      </p:pic>
      <p:sp>
        <p:nvSpPr>
          <p:cNvPr id="5" name="TextBox 4"/>
          <p:cNvSpPr txBox="1"/>
          <p:nvPr/>
        </p:nvSpPr>
        <p:spPr>
          <a:xfrm>
            <a:off x="548640"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From footnote to shelf</a:t>
            </a:r>
          </a:p>
        </p:txBody>
      </p:sp>
      <p:sp>
        <p:nvSpPr>
          <p:cNvPr id="6" name="TextBox 5"/>
          <p:cNvSpPr txBox="1"/>
          <p:nvPr/>
        </p:nvSpPr>
        <p:spPr>
          <a:xfrm>
            <a:off x="548640"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The editors' source note, resolved as far as the bundled reference data reaches: record group, entry, lot file, series dates and the repository that holds it. No network, no API key.</a:t>
            </a:r>
          </a:p>
        </p:txBody>
      </p:sp>
      <p:pic>
        <p:nvPicPr>
          <p:cNvPr id="7" name="Picture 6" descr="Docs__screenshots__ipad__trip-packet.jpg"/>
          <p:cNvPicPr>
            <a:picLocks noChangeAspect="1"/>
          </p:cNvPicPr>
          <p:nvPr/>
        </p:nvPicPr>
        <p:blipFill>
          <a:blip r:embed="rId3"/>
          <a:stretch>
            <a:fillRect/>
          </a:stretch>
        </p:blipFill>
        <p:spPr>
          <a:xfrm>
            <a:off x="6233007" y="1920240"/>
            <a:ext cx="3840479" cy="2880360"/>
          </a:xfrm>
          <a:prstGeom prst="rect">
            <a:avLst/>
          </a:prstGeom>
          <a:ln w="9525">
            <a:solidFill>
              <a:srgbClr val="D6D6DA"/>
            </a:solidFill>
          </a:ln>
        </p:spPr>
      </p:pic>
      <p:sp>
        <p:nvSpPr>
          <p:cNvPr id="8" name="TextBox 7"/>
          <p:cNvSpPr txBox="1"/>
          <p:nvPr/>
        </p:nvSpPr>
        <p:spPr>
          <a:xfrm>
            <a:off x="6233007"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Plan the trip before you book it</a:t>
            </a:r>
          </a:p>
        </p:txBody>
      </p:sp>
      <p:sp>
        <p:nvSpPr>
          <p:cNvPr id="9" name="TextBox 8"/>
          <p:cNvSpPr txBox="1"/>
          <p:nvPr/>
        </p:nvSpPr>
        <p:spPr>
          <a:xfrm>
            <a:off x="6233007"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An Archives Visit turns your documents into research targets with the RG, entry and NAID lines staff ask you to quote, flags restricted series, and drafts the advance inquiry.</a:t>
            </a:r>
          </a:p>
        </p:txBody>
      </p:sp>
      <p:sp>
        <p:nvSpPr>
          <p:cNvPr id="10" name="TextBox 9"/>
          <p:cNvSpPr txBox="1"/>
          <p:nvPr/>
        </p:nvSpPr>
        <p:spPr>
          <a:xfrm>
            <a:off x="548640" y="5925312"/>
            <a:ext cx="11094415" cy="411480"/>
          </a:xfrm>
          <a:prstGeom prst="rect">
            <a:avLst/>
          </a:prstGeom>
          <a:noFill/>
        </p:spPr>
        <p:txBody>
          <a:bodyPr wrap="square" anchor="t" lIns="0" rIns="0" tIns="0" bIns="0">
            <a:spAutoFit/>
          </a:bodyPr>
          <a:lstStyle/>
          <a:p>
            <a:pPr algn="l">
              <a:lnSpc>
                <a:spcPct val="110000"/>
              </a:lnSpc>
            </a:pPr>
            <a:r>
              <a:rPr sz="1100" b="1" i="0">
                <a:solidFill>
                  <a:srgbClr val="A61C2A"/>
                </a:solidFill>
                <a:latin typeface="Arial"/>
              </a:rPr>
              <a:t>Also: </a:t>
            </a:r>
            <a:r>
              <a:rPr sz="1100" b="0" i="0">
                <a:solidFill>
                  <a:srgbClr val="1C1C1E"/>
                </a:solidFill>
                <a:latin typeface="Arial"/>
              </a:rPr>
              <a:t>Follow what the editors cited: their cross-references around any document, as a timeline or a network, one to three hops out. Cite as you write: the Department's recommended citation, BibTeX, RIS, or straight into your own Zotero library.</a:t>
            </a:r>
          </a:p>
        </p:txBody>
      </p:sp>
      <p:sp>
        <p:nvSpPr>
          <p:cNvPr id="11" name="TextBox 10"/>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 Not affiliated with, endorsed by, or sponsored by the National Archives and Records Administration. Catalog data is subject to NARA's terms of use.</a:t>
            </a:r>
          </a:p>
        </p:txBody>
      </p:sp>
      <p:sp>
        <p:nvSpPr>
          <p:cNvPr id="12" name="TextBox 11"/>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FOR TEACHERS</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A course reader in an afternoon, and lecture material before a single download</a:t>
            </a:r>
          </a:p>
        </p:txBody>
      </p:sp>
      <p:pic>
        <p:nvPicPr>
          <p:cNvPr id="4" name="Picture 3" descr="Docs__screenshots__ipad__collections-editor.jpg"/>
          <p:cNvPicPr>
            <a:picLocks noChangeAspect="1"/>
          </p:cNvPicPr>
          <p:nvPr/>
        </p:nvPicPr>
        <p:blipFill>
          <a:blip r:embed="rId2"/>
          <a:stretch>
            <a:fillRect/>
          </a:stretch>
        </p:blipFill>
        <p:spPr>
          <a:xfrm>
            <a:off x="548640" y="1920240"/>
            <a:ext cx="3840479" cy="2880360"/>
          </a:xfrm>
          <a:prstGeom prst="rect">
            <a:avLst/>
          </a:prstGeom>
          <a:ln w="9525">
            <a:solidFill>
              <a:srgbClr val="D6D6DA"/>
            </a:solidFill>
          </a:ln>
        </p:spPr>
      </p:pic>
      <p:sp>
        <p:nvSpPr>
          <p:cNvPr id="5" name="TextBox 4"/>
          <p:cNvSpPr txBox="1"/>
          <p:nvPr/>
        </p:nvSpPr>
        <p:spPr>
          <a:xfrm>
            <a:off x="548640"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Build a course reader in an afternoon</a:t>
            </a:r>
          </a:p>
        </p:txBody>
      </p:sp>
      <p:sp>
        <p:nvSpPr>
          <p:cNvPr id="6" name="TextBox 5"/>
          <p:cNvSpPr txBox="1"/>
          <p:nvPr/>
        </p:nvSpPr>
        <p:spPr>
          <a:xfrm>
            <a:off x="548640"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Section the collection by week, excerpt the passages discussion will centre on, add a headnote per document, apply the Teaching reader preset, export PDF or Word.</a:t>
            </a:r>
          </a:p>
        </p:txBody>
      </p:sp>
      <p:pic>
        <p:nvPicPr>
          <p:cNvPr id="7" name="Picture 6" descr="Docs__screenshots__ipad__series-production.jpg"/>
          <p:cNvPicPr>
            <a:picLocks noChangeAspect="1"/>
          </p:cNvPicPr>
          <p:nvPr/>
        </p:nvPicPr>
        <p:blipFill>
          <a:blip r:embed="rId3"/>
          <a:stretch>
            <a:fillRect/>
          </a:stretch>
        </p:blipFill>
        <p:spPr>
          <a:xfrm>
            <a:off x="6233007" y="1920240"/>
            <a:ext cx="3840479" cy="2880360"/>
          </a:xfrm>
          <a:prstGeom prst="rect">
            <a:avLst/>
          </a:prstGeom>
          <a:ln w="9525">
            <a:solidFill>
              <a:srgbClr val="D6D6DA"/>
            </a:solidFill>
          </a:ln>
        </p:spPr>
      </p:pic>
      <p:sp>
        <p:nvSpPr>
          <p:cNvPr id="8" name="TextBox 7"/>
          <p:cNvSpPr txBox="1"/>
          <p:nvPr/>
        </p:nvSpPr>
        <p:spPr>
          <a:xfrm>
            <a:off x="6233007"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Lecture material before a single download</a:t>
            </a:r>
          </a:p>
        </p:txBody>
      </p:sp>
      <p:sp>
        <p:nvSpPr>
          <p:cNvPr id="9" name="TextBox 8"/>
          <p:cNvSpPr txBox="1"/>
          <p:nvPr/>
        </p:nvSpPr>
        <p:spPr>
          <a:xfrm>
            <a:off x="6233007"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How late the official record runs against the law that governs it, and three more dashboards on the series itself. They ship inside the app and work offline.</a:t>
            </a:r>
          </a:p>
        </p:txBody>
      </p:sp>
      <p:sp>
        <p:nvSpPr>
          <p:cNvPr id="10" name="TextBox 9"/>
          <p:cNvSpPr txBox="1"/>
          <p:nvPr/>
        </p:nvSpPr>
        <p:spPr>
          <a:xfrm>
            <a:off x="548640" y="5925312"/>
            <a:ext cx="11094415" cy="411480"/>
          </a:xfrm>
          <a:prstGeom prst="rect">
            <a:avLst/>
          </a:prstGeom>
          <a:noFill/>
        </p:spPr>
        <p:txBody>
          <a:bodyPr wrap="square" anchor="t" lIns="0" rIns="0" tIns="0" bIns="0">
            <a:spAutoFit/>
          </a:bodyPr>
          <a:lstStyle/>
          <a:p>
            <a:pPr algn="l">
              <a:lnSpc>
                <a:spcPct val="110000"/>
              </a:lnSpc>
            </a:pPr>
            <a:r>
              <a:rPr sz="1100" b="1" i="0">
                <a:solidFill>
                  <a:srgbClr val="A61C2A"/>
                </a:solidFill>
                <a:latin typeface="Arial"/>
              </a:rPr>
              <a:t>Also: </a:t>
            </a:r>
            <a:r>
              <a:rPr sz="1100" b="0" i="0">
                <a:solidFill>
                  <a:srgbClr val="1C1C1E"/>
                </a:solidFill>
                <a:latin typeface="Arial"/>
              </a:rPr>
              <a:t>Why raw counts mislead, shown live: chart a term by year in Corpus Analytics, switch to share of documents, and tap into the documents behind the spike. Most charts export as a CSV with the method stated, and many as a figure.</a:t>
            </a:r>
          </a:p>
        </p:txBody>
      </p:sp>
      <p:sp>
        <p:nvSpPr>
          <p:cNvPr id="11" name="TextBox 10"/>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2" name="TextBox 11"/>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FOR POLICY ANALYSTS</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A crisis day by day, and a question asked in its own words</a:t>
            </a:r>
          </a:p>
        </p:txBody>
      </p:sp>
      <p:pic>
        <p:nvPicPr>
          <p:cNvPr id="4" name="Picture 3" descr="Docs__screenshots__ipad__chronology.jpg"/>
          <p:cNvPicPr>
            <a:picLocks noChangeAspect="1"/>
          </p:cNvPicPr>
          <p:nvPr/>
        </p:nvPicPr>
        <p:blipFill>
          <a:blip r:embed="rId2"/>
          <a:stretch>
            <a:fillRect/>
          </a:stretch>
        </p:blipFill>
        <p:spPr>
          <a:xfrm>
            <a:off x="548640" y="1920240"/>
            <a:ext cx="3840479" cy="2880360"/>
          </a:xfrm>
          <a:prstGeom prst="rect">
            <a:avLst/>
          </a:prstGeom>
          <a:ln w="9525">
            <a:solidFill>
              <a:srgbClr val="D6D6DA"/>
            </a:solidFill>
          </a:ln>
        </p:spPr>
      </p:pic>
      <p:sp>
        <p:nvSpPr>
          <p:cNvPr id="5" name="TextBox 4"/>
          <p:cNvSpPr txBox="1"/>
          <p:nvPr/>
        </p:nvSpPr>
        <p:spPr>
          <a:xfrm>
            <a:off x="548640"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A crisis, day by day, across every volume</a:t>
            </a:r>
          </a:p>
        </p:txBody>
      </p:sp>
      <p:sp>
        <p:nvSpPr>
          <p:cNvPr id="6" name="TextBox 5"/>
          <p:cNvSpPr txBox="1"/>
          <p:nvPr/>
        </p:nvSpPr>
        <p:spPr>
          <a:xfrm>
            <a:off x="548640"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Chronology lays out every dated document in a window you set, whichever volume printed it, with the volumes that carry the weight named.</a:t>
            </a:r>
          </a:p>
        </p:txBody>
      </p:sp>
      <p:pic>
        <p:nvPicPr>
          <p:cNvPr id="7" name="Picture 6" descr="Docs__screenshots__ipad__semantic-search.jpg"/>
          <p:cNvPicPr>
            <a:picLocks noChangeAspect="1"/>
          </p:cNvPicPr>
          <p:nvPr/>
        </p:nvPicPr>
        <p:blipFill>
          <a:blip r:embed="rId3"/>
          <a:stretch>
            <a:fillRect/>
          </a:stretch>
        </p:blipFill>
        <p:spPr>
          <a:xfrm>
            <a:off x="6233007" y="1920240"/>
            <a:ext cx="3840479" cy="2880360"/>
          </a:xfrm>
          <a:prstGeom prst="rect">
            <a:avLst/>
          </a:prstGeom>
          <a:ln w="9525">
            <a:solidFill>
              <a:srgbClr val="D6D6DA"/>
            </a:solidFill>
          </a:ln>
        </p:spPr>
      </p:pic>
      <p:sp>
        <p:nvSpPr>
          <p:cNvPr id="8" name="TextBox 7"/>
          <p:cNvSpPr txBox="1"/>
          <p:nvPr/>
        </p:nvSpPr>
        <p:spPr>
          <a:xfrm>
            <a:off x="6233007" y="4846320"/>
            <a:ext cx="5410047" cy="365760"/>
          </a:xfrm>
          <a:prstGeom prst="rect">
            <a:avLst/>
          </a:prstGeom>
          <a:noFill/>
        </p:spPr>
        <p:txBody>
          <a:bodyPr wrap="square" anchor="t" lIns="0" rIns="0" tIns="0" bIns="0">
            <a:spAutoFit/>
          </a:bodyPr>
          <a:lstStyle/>
          <a:p>
            <a:pPr algn="l"/>
            <a:r>
              <a:rPr sz="1700" b="1" i="0">
                <a:solidFill>
                  <a:srgbClr val="1C1C1E"/>
                </a:solidFill>
                <a:latin typeface="Georgia"/>
              </a:rPr>
              <a:t>Ask a question, not a keyword</a:t>
            </a:r>
          </a:p>
        </p:txBody>
      </p:sp>
      <p:sp>
        <p:nvSpPr>
          <p:cNvPr id="9" name="TextBox 8"/>
          <p:cNvSpPr txBox="1"/>
          <p:nvPr/>
        </p:nvSpPr>
        <p:spPr>
          <a:xfrm>
            <a:off x="6233007" y="5212080"/>
            <a:ext cx="5410047" cy="685800"/>
          </a:xfrm>
          <a:prstGeom prst="rect">
            <a:avLst/>
          </a:prstGeom>
          <a:noFill/>
        </p:spPr>
        <p:txBody>
          <a:bodyPr wrap="square" anchor="t" lIns="0" rIns="0" tIns="0" bIns="0">
            <a:spAutoFit/>
          </a:bodyPr>
          <a:lstStyle/>
          <a:p>
            <a:pPr algn="l">
              <a:lnSpc>
                <a:spcPct val="112000"/>
              </a:lnSpc>
            </a:pPr>
            <a:r>
              <a:rPr sz="1100" b="0" i="0">
                <a:solidFill>
                  <a:srgbClr val="5C5C61"/>
                </a:solidFill>
                <a:latin typeface="Arial"/>
              </a:rPr>
              <a:t>Search by meaning ranks the whole series by what you asked, with an optional language model that runs on your device. Nothing you type leaves it. Experimental.</a:t>
            </a:r>
          </a:p>
        </p:txBody>
      </p:sp>
      <p:sp>
        <p:nvSpPr>
          <p:cNvPr id="10" name="TextBox 9"/>
          <p:cNvSpPr txBox="1"/>
          <p:nvPr/>
        </p:nvSpPr>
        <p:spPr>
          <a:xfrm>
            <a:off x="548640" y="5925312"/>
            <a:ext cx="11094415" cy="411480"/>
          </a:xfrm>
          <a:prstGeom prst="rect">
            <a:avLst/>
          </a:prstGeom>
          <a:noFill/>
        </p:spPr>
        <p:txBody>
          <a:bodyPr wrap="square" anchor="t" lIns="0" rIns="0" tIns="0" bIns="0">
            <a:spAutoFit/>
          </a:bodyPr>
          <a:lstStyle/>
          <a:p>
            <a:pPr algn="l">
              <a:lnSpc>
                <a:spcPct val="110000"/>
              </a:lnSpc>
            </a:pPr>
            <a:r>
              <a:rPr sz="1100" b="1" i="0">
                <a:solidFill>
                  <a:srgbClr val="A61C2A"/>
                </a:solidFill>
                <a:latin typeface="Arial"/>
              </a:rPr>
              <a:t>Also: </a:t>
            </a:r>
            <a:r>
              <a:rPr sz="1100" b="0" i="0">
                <a:solidFill>
                  <a:srgbClr val="1C1C1E"/>
                </a:solidFill>
                <a:latin typeface="Arial"/>
              </a:rPr>
              <a:t>Who the record orbits: Person Analytics around any name, the people most often in the same documents, and the trajectories of two rivals across the series. The Briefing packet preset gives a skimmable read with on-device summaries, authorship on every one.</a:t>
            </a:r>
          </a:p>
        </p:txBody>
      </p:sp>
      <p:sp>
        <p:nvSpPr>
          <p:cNvPr id="11" name="TextBox 10"/>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2" name="TextBox 11"/>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ON YOUR DEVICE</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The app collects no data, and the work stays yours</a:t>
            </a:r>
          </a:p>
        </p:txBody>
      </p:sp>
      <p:sp>
        <p:nvSpPr>
          <p:cNvPr id="4" name="Rounded Rectangle 3"/>
          <p:cNvSpPr/>
          <p:nvPr/>
        </p:nvSpPr>
        <p:spPr>
          <a:xfrm>
            <a:off x="548640" y="1874519"/>
            <a:ext cx="3576218" cy="2011680"/>
          </a:xfrm>
          <a:prstGeom prst="roundRect">
            <a:avLst>
              <a:gd name="adj" fmla="val 5000"/>
            </a:avLst>
          </a:prstGeom>
          <a:solidFill>
            <a:srgbClr val="FBEEE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210312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Data Not Collected</a:t>
            </a:r>
          </a:p>
        </p:txBody>
      </p:sp>
      <p:sp>
        <p:nvSpPr>
          <p:cNvPr id="6" name="TextBox 5"/>
          <p:cNvSpPr txBox="1"/>
          <p:nvPr/>
        </p:nvSpPr>
        <p:spPr>
          <a:xfrm>
            <a:off x="804672" y="274320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The App Store privacy label. No analytics, no tracking, no crash reporter of its own, and no account: the developer runs no server the app reports to.</a:t>
            </a:r>
          </a:p>
        </p:txBody>
      </p:sp>
      <p:sp>
        <p:nvSpPr>
          <p:cNvPr id="7" name="Rounded Rectangle 6"/>
          <p:cNvSpPr/>
          <p:nvPr/>
        </p:nvSpPr>
        <p:spPr>
          <a:xfrm>
            <a:off x="4307738" y="1874519"/>
            <a:ext cx="3576218" cy="20116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3770" y="210312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Your research syncs through your own iCloud</a:t>
            </a:r>
          </a:p>
        </p:txBody>
      </p:sp>
      <p:sp>
        <p:nvSpPr>
          <p:cNvPr id="9" name="TextBox 8"/>
          <p:cNvSpPr txBox="1"/>
          <p:nvPr/>
        </p:nvSpPr>
        <p:spPr>
          <a:xfrm>
            <a:off x="4563770" y="274320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Notes, tags, collections and projects live on the device and, if you sign in, in your own iCloud account. Nothing else sees them.</a:t>
            </a:r>
          </a:p>
        </p:txBody>
      </p:sp>
      <p:sp>
        <p:nvSpPr>
          <p:cNvPr id="10" name="Rounded Rectangle 9"/>
          <p:cNvSpPr/>
          <p:nvPr/>
        </p:nvSpPr>
        <p:spPr>
          <a:xfrm>
            <a:off x="8066836" y="1874519"/>
            <a:ext cx="3576218" cy="20116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2868" y="210312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Two optional connections, each with your own free key</a:t>
            </a:r>
          </a:p>
        </p:txBody>
      </p:sp>
      <p:sp>
        <p:nvSpPr>
          <p:cNvPr id="12" name="TextBox 11"/>
          <p:cNvSpPr txBox="1"/>
          <p:nvPr/>
        </p:nvSpPr>
        <p:spPr>
          <a:xfrm>
            <a:off x="8322868" y="274320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The National Archives Catalog, so Source Explorer can look up the records a source note cites; and Zotero, to send documents with your tags and notes.</a:t>
            </a:r>
          </a:p>
        </p:txBody>
      </p:sp>
      <p:sp>
        <p:nvSpPr>
          <p:cNvPr id="13" name="Rounded Rectangle 12"/>
          <p:cNvSpPr/>
          <p:nvPr/>
        </p:nvSpPr>
        <p:spPr>
          <a:xfrm>
            <a:off x="548640" y="4069080"/>
            <a:ext cx="3576218" cy="20116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9768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Summaries on the device</a:t>
            </a:r>
          </a:p>
        </p:txBody>
      </p:sp>
      <p:sp>
        <p:nvSpPr>
          <p:cNvPr id="15" name="TextBox 14"/>
          <p:cNvSpPr txBox="1"/>
          <p:nvPr/>
        </p:nvSpPr>
        <p:spPr>
          <a:xfrm>
            <a:off x="804672" y="493776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Apple Intelligence's on-device model, one document at a time or as unattended bulk runs, with authorship recorded on every summary.</a:t>
            </a:r>
          </a:p>
        </p:txBody>
      </p:sp>
      <p:sp>
        <p:nvSpPr>
          <p:cNvPr id="16" name="Rounded Rectangle 15"/>
          <p:cNvSpPr/>
          <p:nvPr/>
        </p:nvSpPr>
        <p:spPr>
          <a:xfrm>
            <a:off x="4307738" y="4069080"/>
            <a:ext cx="3576218" cy="20116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3770" y="429768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Search by meaning on the device</a:t>
            </a:r>
          </a:p>
        </p:txBody>
      </p:sp>
      <p:sp>
        <p:nvSpPr>
          <p:cNvPr id="18" name="TextBox 17"/>
          <p:cNvSpPr txBox="1"/>
          <p:nvPr/>
        </p:nvSpPr>
        <p:spPr>
          <a:xfrm>
            <a:off x="4563770" y="493776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An optional 310 MB model turns your question into a vector. Experimental, and nothing you type leaves the device.</a:t>
            </a:r>
          </a:p>
        </p:txBody>
      </p:sp>
      <p:sp>
        <p:nvSpPr>
          <p:cNvPr id="19" name="Rounded Rectangle 18"/>
          <p:cNvSpPr/>
          <p:nvPr/>
        </p:nvSpPr>
        <p:spPr>
          <a:xfrm>
            <a:off x="8066836" y="4069080"/>
            <a:ext cx="3576218" cy="201168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2868" y="4297680"/>
            <a:ext cx="3064154" cy="5943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Your index, in your own tools</a:t>
            </a:r>
          </a:p>
        </p:txBody>
      </p:sp>
      <p:sp>
        <p:nvSpPr>
          <p:cNvPr id="21" name="TextBox 20"/>
          <p:cNvSpPr txBox="1"/>
          <p:nvPr/>
        </p:nvSpPr>
        <p:spPr>
          <a:xfrm>
            <a:off x="8322868" y="4937760"/>
            <a:ext cx="3064154" cy="1005840"/>
          </a:xfrm>
          <a:prstGeom prst="rect">
            <a:avLst/>
          </a:prstGeom>
          <a:noFill/>
        </p:spPr>
        <p:txBody>
          <a:bodyPr wrap="square" anchor="t" lIns="0" rIns="0" tIns="0" bIns="0">
            <a:spAutoFit/>
          </a:bodyPr>
          <a:lstStyle/>
          <a:p>
            <a:pPr algn="l">
              <a:lnSpc>
                <a:spcPct val="112000"/>
              </a:lnSpc>
              <a:spcAft>
                <a:spcPts val="500"/>
              </a:spcAft>
            </a:pPr>
            <a:r>
              <a:rPr sz="1200" b="0" i="0">
                <a:solidFill>
                  <a:srgbClr val="5C5C61"/>
                </a:solidFill>
                <a:latin typeface="Arial"/>
              </a:rPr>
              <a:t>On a Mac, Export Research Database saves a checked copy of the index as SQLite, your notes left out unless you say so. A guide explains the schema and its traps.</a:t>
            </a:r>
          </a:p>
        </p:txBody>
      </p:sp>
      <p:sp>
        <p:nvSpPr>
          <p:cNvPr id="22" name="TextBox 21"/>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23" name="TextBox 22"/>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AVAILABILITY · COMING SOON</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Free, in every storefront, English only</a:t>
            </a:r>
          </a:p>
        </p:txBody>
      </p:sp>
      <p:sp>
        <p:nvSpPr>
          <p:cNvPr id="4" name="Rounded Rectangle 3"/>
          <p:cNvSpPr/>
          <p:nvPr/>
        </p:nvSpPr>
        <p:spPr>
          <a:xfrm>
            <a:off x="10271455" y="411480"/>
            <a:ext cx="1371600" cy="274320"/>
          </a:xfrm>
          <a:prstGeom prst="roundRect">
            <a:avLst>
              <a:gd name="adj" fmla="val 50000"/>
            </a:avLst>
          </a:prstGeom>
          <a:solidFill>
            <a:srgbClr val="A61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71455" y="411480"/>
            <a:ext cx="1371600" cy="274320"/>
          </a:xfrm>
          <a:prstGeom prst="rect">
            <a:avLst/>
          </a:prstGeom>
          <a:noFill/>
        </p:spPr>
        <p:txBody>
          <a:bodyPr wrap="square" anchor="ctr" lIns="0" rIns="0" tIns="0" bIns="0">
            <a:spAutoFit/>
          </a:bodyPr>
          <a:lstStyle/>
          <a:p>
            <a:pPr algn="ctr"/>
            <a:r>
              <a:rPr sz="900" b="1" i="0" spc="120">
                <a:solidFill>
                  <a:srgbClr val="FFFFFF"/>
                </a:solidFill>
                <a:latin typeface="Arial"/>
              </a:rPr>
              <a:t>COMING SOON</a:t>
            </a:r>
          </a:p>
        </p:txBody>
      </p:sp>
      <p:sp>
        <p:nvSpPr>
          <p:cNvPr id="6" name="Rounded Rectangle 5"/>
          <p:cNvSpPr/>
          <p:nvPr/>
        </p:nvSpPr>
        <p:spPr>
          <a:xfrm>
            <a:off x="548640" y="1874519"/>
            <a:ext cx="3576218" cy="420624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03120"/>
            <a:ext cx="3064154" cy="411480"/>
          </a:xfrm>
          <a:prstGeom prst="rect">
            <a:avLst/>
          </a:prstGeom>
          <a:noFill/>
        </p:spPr>
        <p:txBody>
          <a:bodyPr wrap="square" anchor="t" lIns="0" rIns="0" tIns="0" bIns="0">
            <a:spAutoFit/>
          </a:bodyPr>
          <a:lstStyle/>
          <a:p>
            <a:pPr algn="l"/>
            <a:r>
              <a:rPr sz="1800" b="1" i="0">
                <a:solidFill>
                  <a:srgbClr val="A61C2A"/>
                </a:solidFill>
                <a:latin typeface="Georgia"/>
              </a:rPr>
              <a:t>Requirements</a:t>
            </a:r>
          </a:p>
        </p:txBody>
      </p:sp>
      <p:sp>
        <p:nvSpPr>
          <p:cNvPr id="8" name="TextBox 7"/>
          <p:cNvSpPr txBox="1"/>
          <p:nvPr/>
        </p:nvSpPr>
        <p:spPr>
          <a:xfrm>
            <a:off x="804672" y="2606040"/>
            <a:ext cx="3064154" cy="3383280"/>
          </a:xfrm>
          <a:prstGeom prst="rect">
            <a:avLst/>
          </a:prstGeom>
          <a:noFill/>
        </p:spPr>
        <p:txBody>
          <a:bodyPr wrap="square" anchor="t" lIns="0" rIns="0" tIns="0" bIns="0">
            <a:spAutoFit/>
          </a:bodyPr>
          <a:lstStyle/>
          <a:p>
            <a:pPr algn="l" marL="201168" indent="-201168">
              <a:lnSpc>
                <a:spcPct val="112000"/>
              </a:lnSpc>
              <a:spcAft>
                <a:spcPts val="700"/>
              </a:spcAft>
              <a:buChar char="•"/>
            </a:pPr>
            <a:r>
              <a:rPr sz="1200" b="0" i="0">
                <a:solidFill>
                  <a:srgbClr val="1C1C1E"/>
                </a:solidFill>
                <a:latin typeface="Arial"/>
              </a:rPr>
              <a:t>Awaiting App Store submission as version 1.0; test builds are on TestFlight.</a:t>
            </a:r>
          </a:p>
          <a:p>
            <a:pPr algn="l" marL="201168" indent="-201168">
              <a:lnSpc>
                <a:spcPct val="112000"/>
              </a:lnSpc>
              <a:spcAft>
                <a:spcPts val="700"/>
              </a:spcAft>
              <a:buChar char="•"/>
            </a:pPr>
            <a:r>
              <a:rPr sz="1200" b="0" i="0">
                <a:solidFill>
                  <a:srgbClr val="1C1C1E"/>
                </a:solidFill>
                <a:latin typeface="Arial"/>
              </a:rPr>
              <a:t>iPhone or iPad on iOS or iPadOS 26, or a Mac on macOS 26.</a:t>
            </a:r>
          </a:p>
          <a:p>
            <a:pPr algn="l" marL="201168" indent="-201168">
              <a:lnSpc>
                <a:spcPct val="112000"/>
              </a:lnSpc>
              <a:spcAft>
                <a:spcPts val="700"/>
              </a:spcAft>
              <a:buChar char="•"/>
            </a:pPr>
            <a:r>
              <a:rPr sz="1200" b="0" i="0">
                <a:solidFill>
                  <a:srgbClr val="1C1C1E"/>
                </a:solidFill>
                <a:latin typeface="Arial"/>
              </a:rPr>
              <a:t>Document summaries need Apple Intelligence; on a Mac that means Apple silicon.</a:t>
            </a:r>
          </a:p>
          <a:p>
            <a:pPr algn="l" marL="201168" indent="-201168">
              <a:lnSpc>
                <a:spcPct val="112000"/>
              </a:lnSpc>
              <a:spcAft>
                <a:spcPts val="700"/>
              </a:spcAft>
              <a:buChar char="•"/>
            </a:pPr>
            <a:r>
              <a:rPr sz="1200" b="0" i="0">
                <a:solidFill>
                  <a:srgbClr val="1C1C1E"/>
                </a:solidFill>
                <a:latin typeface="Arial"/>
              </a:rPr>
              <a:t>The whole series is about 3.3 GB of volumes, with the index about 2.8 times that again. A subseries is a manageable fraction, and volumes can be removed later.</a:t>
            </a:r>
          </a:p>
          <a:p>
            <a:pPr algn="l" marL="201168" indent="-201168">
              <a:lnSpc>
                <a:spcPct val="112000"/>
              </a:lnSpc>
              <a:spcAft>
                <a:spcPts val="700"/>
              </a:spcAft>
              <a:buChar char="•"/>
            </a:pPr>
            <a:r>
              <a:rPr sz="1200" b="0" i="0">
                <a:solidFill>
                  <a:srgbClr val="1C1C1E"/>
                </a:solidFill>
                <a:latin typeface="Arial"/>
              </a:rPr>
              <a:t>An iCloud account is optional. NARA and Zotero keys are optional.</a:t>
            </a:r>
          </a:p>
        </p:txBody>
      </p:sp>
      <p:sp>
        <p:nvSpPr>
          <p:cNvPr id="9" name="Rounded Rectangle 8"/>
          <p:cNvSpPr/>
          <p:nvPr/>
        </p:nvSpPr>
        <p:spPr>
          <a:xfrm>
            <a:off x="4307738" y="1874519"/>
            <a:ext cx="3576218" cy="420624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3770" y="2103120"/>
            <a:ext cx="3064154" cy="411480"/>
          </a:xfrm>
          <a:prstGeom prst="rect">
            <a:avLst/>
          </a:prstGeom>
          <a:noFill/>
        </p:spPr>
        <p:txBody>
          <a:bodyPr wrap="square" anchor="t" lIns="0" rIns="0" tIns="0" bIns="0">
            <a:spAutoFit/>
          </a:bodyPr>
          <a:lstStyle/>
          <a:p>
            <a:pPr algn="l"/>
            <a:r>
              <a:rPr sz="1800" b="1" i="0">
                <a:solidFill>
                  <a:srgbClr val="A61C2A"/>
                </a:solidFill>
                <a:latin typeface="Georgia"/>
              </a:rPr>
              <a:t>Where to read more</a:t>
            </a:r>
          </a:p>
        </p:txBody>
      </p:sp>
      <p:sp>
        <p:nvSpPr>
          <p:cNvPr id="11" name="TextBox 10"/>
          <p:cNvSpPr txBox="1"/>
          <p:nvPr/>
        </p:nvSpPr>
        <p:spPr>
          <a:xfrm>
            <a:off x="4563770" y="2606040"/>
            <a:ext cx="3064154" cy="3383280"/>
          </a:xfrm>
          <a:prstGeom prst="rect">
            <a:avLst/>
          </a:prstGeom>
          <a:noFill/>
        </p:spPr>
        <p:txBody>
          <a:bodyPr wrap="square" anchor="t" lIns="0" rIns="0" tIns="0" bIns="0">
            <a:spAutoFit/>
          </a:bodyPr>
          <a:lstStyle/>
          <a:p>
            <a:pPr algn="l" marL="201168" indent="-201168">
              <a:lnSpc>
                <a:spcPct val="112000"/>
              </a:lnSpc>
              <a:spcAft>
                <a:spcPts val="700"/>
              </a:spcAft>
              <a:buChar char="•"/>
            </a:pPr>
            <a:r>
              <a:rPr sz="1200" b="0" i="0">
                <a:solidFill>
                  <a:srgbClr val="1C1C1E"/>
                </a:solidFill>
                <a:latin typeface="Arial"/>
              </a:rPr>
              <a:t>Support: frusexplorer.app/support</a:t>
            </a:r>
          </a:p>
          <a:p>
            <a:pPr algn="l" marL="201168" indent="-201168">
              <a:lnSpc>
                <a:spcPct val="112000"/>
              </a:lnSpc>
              <a:spcAft>
                <a:spcPts val="700"/>
              </a:spcAft>
              <a:buChar char="•"/>
            </a:pPr>
            <a:r>
              <a:rPr sz="1200" b="0" i="0">
                <a:solidFill>
                  <a:srgbClr val="1C1C1E"/>
                </a:solidFill>
                <a:latin typeface="Arial"/>
              </a:rPr>
              <a:t>Privacy policy: frusexplorer.app/privacy</a:t>
            </a:r>
          </a:p>
          <a:p>
            <a:pPr algn="l" marL="201168" indent="-201168">
              <a:lnSpc>
                <a:spcPct val="112000"/>
              </a:lnSpc>
              <a:spcAft>
                <a:spcPts val="700"/>
              </a:spcAft>
              <a:buChar char="•"/>
            </a:pPr>
            <a:r>
              <a:rPr sz="1200" b="0" i="0">
                <a:solidFill>
                  <a:srgbClr val="1C1C1E"/>
                </a:solidFill>
                <a:latin typeface="Arial"/>
              </a:rPr>
              <a:t>User manuals for iPhone and iPad and for the Mac, linked from Settings › System › About.</a:t>
            </a:r>
          </a:p>
          <a:p>
            <a:pPr algn="l" marL="201168" indent="-201168">
              <a:lnSpc>
                <a:spcPct val="112000"/>
              </a:lnSpc>
              <a:spcAft>
                <a:spcPts val="700"/>
              </a:spcAft>
              <a:buChar char="•"/>
            </a:pPr>
            <a:r>
              <a:rPr sz="1200" b="0" i="0">
                <a:solidFill>
                  <a:srgbClr val="1C1C1E"/>
                </a:solidFill>
                <a:latin typeface="Arial"/>
              </a:rPr>
              <a:t>The FRUS Research Guide, an introduction to the series itself, inside the app.</a:t>
            </a:r>
          </a:p>
          <a:p>
            <a:pPr algn="l" marL="201168" indent="-201168">
              <a:lnSpc>
                <a:spcPct val="112000"/>
              </a:lnSpc>
              <a:spcAft>
                <a:spcPts val="700"/>
              </a:spcAft>
              <a:buChar char="•"/>
            </a:pPr>
            <a:r>
              <a:rPr sz="1200" b="0" i="0">
                <a:solidFill>
                  <a:srgbClr val="1C1C1E"/>
                </a:solidFill>
                <a:latin typeface="Arial"/>
              </a:rPr>
              <a:t>Help: help@frusexplorer.app</a:t>
            </a:r>
          </a:p>
        </p:txBody>
      </p:sp>
      <p:sp>
        <p:nvSpPr>
          <p:cNvPr id="12" name="Rounded Rectangle 11"/>
          <p:cNvSpPr/>
          <p:nvPr/>
        </p:nvSpPr>
        <p:spPr>
          <a:xfrm>
            <a:off x="8066836" y="1874519"/>
            <a:ext cx="3576218" cy="4206240"/>
          </a:xfrm>
          <a:prstGeom prst="roundRect">
            <a:avLst>
              <a:gd name="adj" fmla="val 4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2868" y="2103120"/>
            <a:ext cx="3064154" cy="411480"/>
          </a:xfrm>
          <a:prstGeom prst="rect">
            <a:avLst/>
          </a:prstGeom>
          <a:noFill/>
        </p:spPr>
        <p:txBody>
          <a:bodyPr wrap="square" anchor="t" lIns="0" rIns="0" tIns="0" bIns="0">
            <a:spAutoFit/>
          </a:bodyPr>
          <a:lstStyle/>
          <a:p>
            <a:pPr algn="l"/>
            <a:r>
              <a:rPr sz="1800" b="1" i="0">
                <a:solidFill>
                  <a:srgbClr val="A61C2A"/>
                </a:solidFill>
                <a:latin typeface="Georgia"/>
              </a:rPr>
              <a:t>Source</a:t>
            </a:r>
          </a:p>
        </p:txBody>
      </p:sp>
      <p:sp>
        <p:nvSpPr>
          <p:cNvPr id="14" name="TextBox 13"/>
          <p:cNvSpPr txBox="1"/>
          <p:nvPr/>
        </p:nvSpPr>
        <p:spPr>
          <a:xfrm>
            <a:off x="8322868" y="2606040"/>
            <a:ext cx="3064154" cy="3383280"/>
          </a:xfrm>
          <a:prstGeom prst="rect">
            <a:avLst/>
          </a:prstGeom>
          <a:noFill/>
        </p:spPr>
        <p:txBody>
          <a:bodyPr wrap="square" anchor="t" lIns="0" rIns="0" tIns="0" bIns="0">
            <a:spAutoFit/>
          </a:bodyPr>
          <a:lstStyle/>
          <a:p>
            <a:pPr algn="l" marL="201168" indent="-201168">
              <a:lnSpc>
                <a:spcPct val="112000"/>
              </a:lnSpc>
              <a:spcAft>
                <a:spcPts val="700"/>
              </a:spcAft>
              <a:buChar char="•"/>
            </a:pPr>
            <a:r>
              <a:rPr sz="1200" b="0" i="0">
                <a:solidFill>
                  <a:srgbClr val="1C1C1E"/>
                </a:solidFill>
                <a:latin typeface="Arial"/>
              </a:rPr>
              <a:t>The app's code is public under the Apache License 2.0 at github.com/joshbotts/FRUS-Explorer.</a:t>
            </a:r>
          </a:p>
          <a:p>
            <a:pPr algn="l" marL="201168" indent="-201168">
              <a:lnSpc>
                <a:spcPct val="112000"/>
              </a:lnSpc>
              <a:spcAft>
                <a:spcPts val="700"/>
              </a:spcAft>
              <a:buChar char="•"/>
            </a:pPr>
            <a:r>
              <a:rPr sz="1200" b="0" i="0">
                <a:solidFill>
                  <a:srgbClr val="1C1C1E"/>
                </a:solidFill>
                <a:latin typeface="Arial"/>
              </a:rPr>
              <a:t>An independent project, developed with Claude Code.</a:t>
            </a:r>
          </a:p>
          <a:p>
            <a:pPr algn="l" marL="201168" indent="-201168">
              <a:lnSpc>
                <a:spcPct val="112000"/>
              </a:lnSpc>
              <a:spcAft>
                <a:spcPts val="700"/>
              </a:spcAft>
              <a:buChar char="•"/>
            </a:pPr>
            <a:r>
              <a:rPr sz="1200" b="0" i="0">
                <a:solidFill>
                  <a:srgbClr val="1C1C1E"/>
                </a:solidFill>
                <a:latin typeface="Arial"/>
              </a:rPr>
              <a:t>The series is in the public domain; the app downloads the Office of the Historian's TEI editions from its public repository.</a:t>
            </a:r>
          </a:p>
        </p:txBody>
      </p:sp>
      <p:sp>
        <p:nvSpPr>
          <p:cNvPr id="15" name="TextBox 14"/>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a:t>
            </a:r>
          </a:p>
        </p:txBody>
      </p:sp>
      <p:sp>
        <p:nvSpPr>
          <p:cNvPr id="16" name="TextBox 15"/>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2F4"/>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anchor="t" lIns="0" rIns="0" tIns="0" bIns="0">
            <a:spAutoFit/>
          </a:bodyPr>
          <a:lstStyle/>
          <a:p>
            <a:pPr algn="l"/>
            <a:r>
              <a:rPr sz="1100" b="1" i="0" spc="160">
                <a:solidFill>
                  <a:srgbClr val="A61C2A"/>
                </a:solidFill>
                <a:latin typeface="Arial"/>
              </a:rPr>
              <a:t>THE WEB EDITION · IN DEVELOPMENT</a:t>
            </a:r>
          </a:p>
        </p:txBody>
      </p:sp>
      <p:sp>
        <p:nvSpPr>
          <p:cNvPr id="3" name="TextBox 2"/>
          <p:cNvSpPr txBox="1"/>
          <p:nvPr/>
        </p:nvSpPr>
        <p:spPr>
          <a:xfrm>
            <a:off x="548640" y="713232"/>
            <a:ext cx="11094415" cy="1097280"/>
          </a:xfrm>
          <a:prstGeom prst="rect">
            <a:avLst/>
          </a:prstGeom>
          <a:noFill/>
        </p:spPr>
        <p:txBody>
          <a:bodyPr wrap="square" anchor="t" lIns="0" rIns="0" tIns="0" bIns="0">
            <a:spAutoFit/>
          </a:bodyPr>
          <a:lstStyle/>
          <a:p>
            <a:pPr algn="l">
              <a:lnSpc>
                <a:spcPct val="105000"/>
              </a:lnSpc>
            </a:pPr>
            <a:r>
              <a:rPr sz="3200" b="1" i="0">
                <a:solidFill>
                  <a:srgbClr val="1C1C1E"/>
                </a:solidFill>
                <a:latin typeface="Georgia"/>
              </a:rPr>
              <a:t>FRUS Explorer Light: the same research tools, in a browser</a:t>
            </a:r>
          </a:p>
        </p:txBody>
      </p:sp>
      <p:sp>
        <p:nvSpPr>
          <p:cNvPr id="4" name="Rounded Rectangle 3"/>
          <p:cNvSpPr/>
          <p:nvPr/>
        </p:nvSpPr>
        <p:spPr>
          <a:xfrm>
            <a:off x="9997135" y="411480"/>
            <a:ext cx="1645920" cy="274320"/>
          </a:xfrm>
          <a:prstGeom prst="roundRect">
            <a:avLst>
              <a:gd name="adj" fmla="val 50000"/>
            </a:avLst>
          </a:prstGeom>
          <a:solidFill>
            <a:srgbClr val="A61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97135" y="411480"/>
            <a:ext cx="1645920" cy="274320"/>
          </a:xfrm>
          <a:prstGeom prst="rect">
            <a:avLst/>
          </a:prstGeom>
          <a:noFill/>
        </p:spPr>
        <p:txBody>
          <a:bodyPr wrap="square" anchor="ctr" lIns="0" rIns="0" tIns="0" bIns="0">
            <a:spAutoFit/>
          </a:bodyPr>
          <a:lstStyle/>
          <a:p>
            <a:pPr algn="ctr"/>
            <a:r>
              <a:rPr sz="900" b="1" i="0" spc="120">
                <a:solidFill>
                  <a:srgbClr val="FFFFFF"/>
                </a:solidFill>
                <a:latin typeface="Arial"/>
              </a:rPr>
              <a:t>IN DEVELOPMENT</a:t>
            </a:r>
          </a:p>
        </p:txBody>
      </p:sp>
      <p:sp>
        <p:nvSpPr>
          <p:cNvPr id="6" name="TextBox 5"/>
          <p:cNvSpPr txBox="1"/>
          <p:nvPr/>
        </p:nvSpPr>
        <p:spPr>
          <a:xfrm>
            <a:off x="548640" y="1965960"/>
            <a:ext cx="5760720" cy="2103120"/>
          </a:xfrm>
          <a:prstGeom prst="rect">
            <a:avLst/>
          </a:prstGeom>
          <a:noFill/>
        </p:spPr>
        <p:txBody>
          <a:bodyPr wrap="square" anchor="t" lIns="0" rIns="0" tIns="0" bIns="0">
            <a:spAutoFit/>
          </a:bodyPr>
          <a:lstStyle/>
          <a:p>
            <a:pPr algn="l">
              <a:lnSpc>
                <a:spcPct val="118000"/>
              </a:lnSpc>
              <a:spcAft>
                <a:spcPts val="800"/>
              </a:spcAft>
            </a:pPr>
            <a:r>
              <a:rPr sz="1400" b="0" i="0">
                <a:solidFill>
                  <a:srgbClr val="1C1C1E"/>
                </a:solidFill>
                <a:latin typeface="Arial"/>
              </a:rPr>
              <a:t>A self-hosted web edition. One container serves the corpus, its full-text index, and each researcher's notes and highlights to any modern browser, for one person on a laptop or a class or team sharing an instance.</a:t>
            </a:r>
          </a:p>
          <a:p>
            <a:pPr algn="l">
              <a:lnSpc>
                <a:spcPct val="118000"/>
              </a:lnSpc>
              <a:spcAft>
                <a:spcPts val="800"/>
              </a:spcAft>
            </a:pPr>
            <a:r>
              <a:rPr sz="1400" b="0" i="0">
                <a:solidFill>
                  <a:srgbClr val="1C1C1E"/>
                </a:solidFill>
                <a:latin typeface="Arial"/>
              </a:rPr>
              <a:t>It compiles the app's own Swift files, so the same inputs give the same index rows, the same results in the same order, and the same document HTML.</a:t>
            </a:r>
          </a:p>
        </p:txBody>
      </p:sp>
      <p:sp>
        <p:nvSpPr>
          <p:cNvPr id="7" name="Rounded Rectangle 6"/>
          <p:cNvSpPr/>
          <p:nvPr/>
        </p:nvSpPr>
        <p:spPr>
          <a:xfrm>
            <a:off x="548640" y="4160520"/>
            <a:ext cx="1600200" cy="822960"/>
          </a:xfrm>
          <a:prstGeom prst="roundRect">
            <a:avLst>
              <a:gd name="adj" fmla="val 8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297680"/>
            <a:ext cx="1380744" cy="365760"/>
          </a:xfrm>
          <a:prstGeom prst="rect">
            <a:avLst/>
          </a:prstGeom>
          <a:noFill/>
        </p:spPr>
        <p:txBody>
          <a:bodyPr wrap="square" anchor="t" lIns="0" rIns="0" tIns="0" bIns="0">
            <a:spAutoFit/>
          </a:bodyPr>
          <a:lstStyle/>
          <a:p>
            <a:pPr algn="ctr"/>
            <a:r>
              <a:rPr sz="1200" b="1" i="0">
                <a:solidFill>
                  <a:srgbClr val="1C1C1E"/>
                </a:solidFill>
                <a:latin typeface="Arial"/>
              </a:rPr>
              <a:t>Browser</a:t>
            </a:r>
          </a:p>
        </p:txBody>
      </p:sp>
      <p:sp>
        <p:nvSpPr>
          <p:cNvPr id="9" name="TextBox 8"/>
          <p:cNvSpPr txBox="1"/>
          <p:nvPr/>
        </p:nvSpPr>
        <p:spPr>
          <a:xfrm>
            <a:off x="658368" y="4572000"/>
            <a:ext cx="1380744" cy="411480"/>
          </a:xfrm>
          <a:prstGeom prst="rect">
            <a:avLst/>
          </a:prstGeom>
          <a:noFill/>
        </p:spPr>
        <p:txBody>
          <a:bodyPr wrap="square" anchor="t" lIns="0" rIns="0" tIns="0" bIns="0">
            <a:spAutoFit/>
          </a:bodyPr>
          <a:lstStyle/>
          <a:p>
            <a:pPr algn="ctr">
              <a:lnSpc>
                <a:spcPct val="105000"/>
              </a:lnSpc>
            </a:pPr>
            <a:r>
              <a:rPr sz="1000" b="0" i="0">
                <a:solidFill>
                  <a:srgbClr val="5C5C61"/>
                </a:solidFill>
                <a:latin typeface="Arial"/>
              </a:rPr>
              <a:t>TypeScript, React</a:t>
            </a:r>
          </a:p>
        </p:txBody>
      </p:sp>
      <p:sp>
        <p:nvSpPr>
          <p:cNvPr id="10" name="Right Arrow 9"/>
          <p:cNvSpPr/>
          <p:nvPr/>
        </p:nvSpPr>
        <p:spPr>
          <a:xfrm>
            <a:off x="2221992" y="4462272"/>
            <a:ext cx="274320" cy="219456"/>
          </a:xfrm>
          <a:prstGeom prst="rightArrow">
            <a:avLst/>
          </a:prstGeom>
          <a:solidFill>
            <a:srgbClr val="A61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69464" y="4160520"/>
            <a:ext cx="1600200" cy="822960"/>
          </a:xfrm>
          <a:prstGeom prst="roundRect">
            <a:avLst>
              <a:gd name="adj" fmla="val 8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79192" y="4297680"/>
            <a:ext cx="1380744" cy="365760"/>
          </a:xfrm>
          <a:prstGeom prst="rect">
            <a:avLst/>
          </a:prstGeom>
          <a:noFill/>
        </p:spPr>
        <p:txBody>
          <a:bodyPr wrap="square" anchor="t" lIns="0" rIns="0" tIns="0" bIns="0">
            <a:spAutoFit/>
          </a:bodyPr>
          <a:lstStyle/>
          <a:p>
            <a:pPr algn="ctr"/>
            <a:r>
              <a:rPr sz="1200" b="1" i="0">
                <a:solidFill>
                  <a:srgbClr val="1C1C1E"/>
                </a:solidFill>
                <a:latin typeface="Arial"/>
              </a:rPr>
              <a:t>frus-light server</a:t>
            </a:r>
          </a:p>
        </p:txBody>
      </p:sp>
      <p:sp>
        <p:nvSpPr>
          <p:cNvPr id="13" name="TextBox 12"/>
          <p:cNvSpPr txBox="1"/>
          <p:nvPr/>
        </p:nvSpPr>
        <p:spPr>
          <a:xfrm>
            <a:off x="2679192" y="4572000"/>
            <a:ext cx="1380744" cy="411480"/>
          </a:xfrm>
          <a:prstGeom prst="rect">
            <a:avLst/>
          </a:prstGeom>
          <a:noFill/>
        </p:spPr>
        <p:txBody>
          <a:bodyPr wrap="square" anchor="t" lIns="0" rIns="0" tIns="0" bIns="0">
            <a:spAutoFit/>
          </a:bodyPr>
          <a:lstStyle/>
          <a:p>
            <a:pPr algn="ctr">
              <a:lnSpc>
                <a:spcPct val="105000"/>
              </a:lnSpc>
            </a:pPr>
            <a:r>
              <a:rPr sz="1000" b="0" i="0">
                <a:solidFill>
                  <a:srgbClr val="5C5C61"/>
                </a:solidFill>
                <a:latin typeface="Arial"/>
              </a:rPr>
              <a:t>Swift 6 on Linux, Hummingbird</a:t>
            </a:r>
          </a:p>
        </p:txBody>
      </p:sp>
      <p:sp>
        <p:nvSpPr>
          <p:cNvPr id="14" name="Right Arrow 13"/>
          <p:cNvSpPr/>
          <p:nvPr/>
        </p:nvSpPr>
        <p:spPr>
          <a:xfrm>
            <a:off x="4242816" y="4462272"/>
            <a:ext cx="274320" cy="219456"/>
          </a:xfrm>
          <a:prstGeom prst="rightArrow">
            <a:avLst/>
          </a:prstGeom>
          <a:solidFill>
            <a:srgbClr val="A61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90288" y="4133087"/>
            <a:ext cx="1828800" cy="420624"/>
          </a:xfrm>
          <a:prstGeom prst="roundRect">
            <a:avLst>
              <a:gd name="adj" fmla="val 10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0016" y="4133087"/>
            <a:ext cx="1609344" cy="420624"/>
          </a:xfrm>
          <a:prstGeom prst="rect">
            <a:avLst/>
          </a:prstGeom>
          <a:noFill/>
        </p:spPr>
        <p:txBody>
          <a:bodyPr wrap="square" anchor="ctr" lIns="0" rIns="0" tIns="0" bIns="0">
            <a:spAutoFit/>
          </a:bodyPr>
          <a:lstStyle/>
          <a:p>
            <a:pPr algn="l">
              <a:lnSpc>
                <a:spcPct val="100000"/>
              </a:lnSpc>
            </a:pPr>
            <a:r>
              <a:rPr sz="1000" b="1" i="0">
                <a:solidFill>
                  <a:srgbClr val="1C1C1E"/>
                </a:solidFill>
                <a:latin typeface="Arial"/>
              </a:rPr>
              <a:t>frus.db  </a:t>
            </a:r>
            <a:r>
              <a:rPr sz="900" b="0" i="0">
                <a:solidFill>
                  <a:srgbClr val="5C5C61"/>
                </a:solidFill>
                <a:latin typeface="Arial"/>
              </a:rPr>
              <a:t>the corpus index, from a Mac export</a:t>
            </a:r>
          </a:p>
        </p:txBody>
      </p:sp>
      <p:sp>
        <p:nvSpPr>
          <p:cNvPr id="17" name="Rounded Rectangle 16"/>
          <p:cNvSpPr/>
          <p:nvPr/>
        </p:nvSpPr>
        <p:spPr>
          <a:xfrm>
            <a:off x="4590288" y="4590288"/>
            <a:ext cx="1828800" cy="420624"/>
          </a:xfrm>
          <a:prstGeom prst="roundRect">
            <a:avLst>
              <a:gd name="adj" fmla="val 10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0016" y="4590288"/>
            <a:ext cx="1609344" cy="420624"/>
          </a:xfrm>
          <a:prstGeom prst="rect">
            <a:avLst/>
          </a:prstGeom>
          <a:noFill/>
        </p:spPr>
        <p:txBody>
          <a:bodyPr wrap="square" anchor="ctr" lIns="0" rIns="0" tIns="0" bIns="0">
            <a:spAutoFit/>
          </a:bodyPr>
          <a:lstStyle/>
          <a:p>
            <a:pPr algn="l">
              <a:lnSpc>
                <a:spcPct val="100000"/>
              </a:lnSpc>
            </a:pPr>
            <a:r>
              <a:rPr sz="1000" b="1" i="0">
                <a:solidFill>
                  <a:srgbClr val="1C1C1E"/>
                </a:solidFill>
                <a:latin typeface="Arial"/>
              </a:rPr>
              <a:t>app.db  </a:t>
            </a:r>
            <a:r>
              <a:rPr sz="900" b="0" i="0">
                <a:solidFill>
                  <a:srgbClr val="5C5C61"/>
                </a:solidFill>
                <a:latin typeface="Arial"/>
              </a:rPr>
              <a:t>users and their data</a:t>
            </a:r>
          </a:p>
        </p:txBody>
      </p:sp>
      <p:sp>
        <p:nvSpPr>
          <p:cNvPr id="19" name="TextBox 18"/>
          <p:cNvSpPr txBox="1"/>
          <p:nvPr/>
        </p:nvSpPr>
        <p:spPr>
          <a:xfrm>
            <a:off x="548640" y="5093208"/>
            <a:ext cx="5760720" cy="457200"/>
          </a:xfrm>
          <a:prstGeom prst="rect">
            <a:avLst/>
          </a:prstGeom>
          <a:noFill/>
        </p:spPr>
        <p:txBody>
          <a:bodyPr wrap="square" anchor="t" lIns="0" rIns="0" tIns="0" bIns="0">
            <a:spAutoFit/>
          </a:bodyPr>
          <a:lstStyle/>
          <a:p>
            <a:pPr algn="l">
              <a:lnSpc>
                <a:spcPct val="110000"/>
              </a:lnSpc>
            </a:pPr>
            <a:r>
              <a:rPr sz="1000" b="0" i="1">
                <a:solidFill>
                  <a:srgbClr val="5C5C61"/>
                </a:solidFill>
                <a:latin typeface="Arial"/>
              </a:rPr>
              <a:t>Docker Compose on a Mac or a Linux host, at localhost:8080. A folder of TEI volumes is mounted read-only; the index is the Mac app's own Export Research Database file.</a:t>
            </a:r>
          </a:p>
        </p:txBody>
      </p:sp>
      <p:sp>
        <p:nvSpPr>
          <p:cNvPr id="20" name="TextBox 19"/>
          <p:cNvSpPr txBox="1"/>
          <p:nvPr/>
        </p:nvSpPr>
        <p:spPr>
          <a:xfrm>
            <a:off x="548640" y="5596128"/>
            <a:ext cx="5760720" cy="685800"/>
          </a:xfrm>
          <a:prstGeom prst="rect">
            <a:avLst/>
          </a:prstGeom>
          <a:noFill/>
        </p:spPr>
        <p:txBody>
          <a:bodyPr wrap="square" anchor="t" lIns="0" rIns="0" tIns="0" bIns="0">
            <a:spAutoFit/>
          </a:bodyPr>
          <a:lstStyle/>
          <a:p>
            <a:pPr algn="l">
              <a:lnSpc>
                <a:spcPct val="112000"/>
              </a:lnSpc>
            </a:pPr>
            <a:r>
              <a:rPr sz="1100" b="1" i="0">
                <a:solidFill>
                  <a:srgbClr val="1C1C1E"/>
                </a:solidFill>
                <a:latin typeface="Arial"/>
              </a:rPr>
              <a:t>Light leaves out what depends on Apple-only frameworks: </a:t>
            </a:r>
            <a:r>
              <a:rPr sz="1100" b="0" i="0">
                <a:solidFill>
                  <a:srgbClr val="5C5C61"/>
                </a:solidFill>
                <a:latin typeface="Arial"/>
              </a:rPr>
              <a:t>on-device summaries, iCloud sync, widgets and Live Activities, Spotlight and native multi-window scenes. Imported summaries keep their authorship labels, and people can write their own.</a:t>
            </a:r>
          </a:p>
        </p:txBody>
      </p:sp>
      <p:sp>
        <p:nvSpPr>
          <p:cNvPr id="21" name="Rounded Rectangle 20"/>
          <p:cNvSpPr/>
          <p:nvPr/>
        </p:nvSpPr>
        <p:spPr>
          <a:xfrm>
            <a:off x="6583679" y="1874519"/>
            <a:ext cx="5059375" cy="2286000"/>
          </a:xfrm>
          <a:prstGeom prst="roundRect">
            <a:avLst>
              <a:gd name="adj" fmla="val 5000"/>
            </a:avLst>
          </a:prstGeom>
          <a:solidFill>
            <a:srgbClr val="FBEEE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2" y="2103120"/>
            <a:ext cx="4547311" cy="3657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Where it stands</a:t>
            </a:r>
          </a:p>
        </p:txBody>
      </p:sp>
      <p:sp>
        <p:nvSpPr>
          <p:cNvPr id="23" name="TextBox 22"/>
          <p:cNvSpPr txBox="1"/>
          <p:nvPr/>
        </p:nvSpPr>
        <p:spPr>
          <a:xfrm>
            <a:off x="6839712" y="2514600"/>
            <a:ext cx="4547311" cy="1508760"/>
          </a:xfrm>
          <a:prstGeom prst="rect">
            <a:avLst/>
          </a:prstGeom>
          <a:noFill/>
        </p:spPr>
        <p:txBody>
          <a:bodyPr wrap="square" anchor="t" lIns="0" rIns="0" tIns="0" bIns="0">
            <a:spAutoFit/>
          </a:bodyPr>
          <a:lstStyle/>
          <a:p>
            <a:pPr algn="l">
              <a:lnSpc>
                <a:spcPct val="112000"/>
              </a:lnSpc>
              <a:spcAft>
                <a:spcPts val="500"/>
              </a:spcAft>
            </a:pPr>
            <a:r>
              <a:rPr sz="1100" b="0" i="0">
                <a:solidFill>
                  <a:srgbClr val="5C5C61"/>
                </a:solidFill>
                <a:latin typeface="Arial"/>
              </a:rPr>
              <a:t>Phase 1, a Docker Compose install, was signed off on 13 October.</a:t>
            </a:r>
          </a:p>
          <a:p>
            <a:pPr algn="l">
              <a:lnSpc>
                <a:spcPct val="112000"/>
              </a:lnSpc>
              <a:spcAft>
                <a:spcPts val="500"/>
              </a:spcAft>
            </a:pPr>
            <a:r>
              <a:rPr sz="1100" b="0" i="0">
                <a:solidFill>
                  <a:srgbClr val="5C5C61"/>
                </a:solidFill>
                <a:latin typeface="Arial"/>
              </a:rPr>
              <a:t>In the browser today: search with the app's query language, facets six ways, the Query Inspector, results by date; the reader with live links and person and term cards; Browse; Cite with BibTeX and RIS.</a:t>
            </a:r>
          </a:p>
        </p:txBody>
      </p:sp>
      <p:sp>
        <p:nvSpPr>
          <p:cNvPr id="24" name="Rounded Rectangle 23"/>
          <p:cNvSpPr/>
          <p:nvPr/>
        </p:nvSpPr>
        <p:spPr>
          <a:xfrm>
            <a:off x="6583679" y="4297680"/>
            <a:ext cx="5059375" cy="1920240"/>
          </a:xfrm>
          <a:prstGeom prst="roundRect">
            <a:avLst>
              <a:gd name="adj" fmla="val 5000"/>
            </a:avLst>
          </a:prstGeom>
          <a:solidFill>
            <a:srgbClr val="FFFFFF"/>
          </a:solidFill>
          <a:ln w="9525">
            <a:solidFill>
              <a:srgbClr val="D6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4526280"/>
            <a:ext cx="4547311" cy="365759"/>
          </a:xfrm>
          <a:prstGeom prst="rect">
            <a:avLst/>
          </a:prstGeom>
          <a:noFill/>
        </p:spPr>
        <p:txBody>
          <a:bodyPr wrap="square" anchor="t" lIns="0" rIns="0" tIns="0" bIns="0">
            <a:spAutoFit/>
          </a:bodyPr>
          <a:lstStyle/>
          <a:p>
            <a:pPr algn="l">
              <a:lnSpc>
                <a:spcPct val="100000"/>
              </a:lnSpc>
            </a:pPr>
            <a:r>
              <a:rPr sz="1500" b="1" i="0">
                <a:solidFill>
                  <a:srgbClr val="1C1C1E"/>
                </a:solidFill>
                <a:latin typeface="Georgia"/>
              </a:rPr>
              <a:t>What comes next</a:t>
            </a:r>
          </a:p>
        </p:txBody>
      </p:sp>
      <p:sp>
        <p:nvSpPr>
          <p:cNvPr id="26" name="TextBox 25"/>
          <p:cNvSpPr txBox="1"/>
          <p:nvPr/>
        </p:nvSpPr>
        <p:spPr>
          <a:xfrm>
            <a:off x="6839712" y="4937760"/>
            <a:ext cx="4547311" cy="1143000"/>
          </a:xfrm>
          <a:prstGeom prst="rect">
            <a:avLst/>
          </a:prstGeom>
          <a:noFill/>
        </p:spPr>
        <p:txBody>
          <a:bodyPr wrap="square" anchor="t" lIns="0" rIns="0" tIns="0" bIns="0">
            <a:spAutoFit/>
          </a:bodyPr>
          <a:lstStyle/>
          <a:p>
            <a:pPr algn="l">
              <a:lnSpc>
                <a:spcPct val="112000"/>
              </a:lnSpc>
              <a:spcAft>
                <a:spcPts val="500"/>
              </a:spcAft>
            </a:pPr>
            <a:r>
              <a:rPr sz="1100" b="0" i="0">
                <a:solidFill>
                  <a:srgbClr val="5C5C61"/>
                </a:solidFill>
                <a:latin typeface="Arial"/>
              </a:rPr>
              <a:t>Timeline and concordance readings; notes and highlights with a nightly backup; local accounts and sharing beyond one machine; search by meaning in a later phase; a managed deployment on AWS as phase 6.</a:t>
            </a:r>
          </a:p>
        </p:txBody>
      </p:sp>
      <p:sp>
        <p:nvSpPr>
          <p:cNvPr id="27" name="TextBox 26"/>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5C5C61"/>
                </a:solidFill>
                <a:latin typeface="Arial"/>
              </a:rPr>
              <a:t>FRUS Explorer is an independent research tool. It is not an official product of the Office of the Historian or the U.S. Department of State. The FRUS series itself is in the public domain. FRUS Explorer Light is Apache 2.0 at github.com/joshbotts/FRUS-Explorer-Web-App.</a:t>
            </a:r>
          </a:p>
        </p:txBody>
      </p:sp>
      <p:sp>
        <p:nvSpPr>
          <p:cNvPr id="28" name="TextBox 27"/>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5C5C61"/>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217"/>
        </a:solidFill>
        <a:effectLst/>
      </p:bgPr>
    </p:bg>
    <p:spTree>
      <p:nvGrpSpPr>
        <p:cNvPr id="1" name=""/>
        <p:cNvGrpSpPr/>
        <p:nvPr/>
      </p:nvGrpSpPr>
      <p:grpSpPr/>
      <p:pic>
        <p:nvPicPr>
          <p:cNvPr id="2" name="Picture 1" descr="FRUSExplorer__Resources__Assets.xcassets__AppIcon.appiconset__AppIcon-1024.png"/>
          <p:cNvPicPr>
            <a:picLocks noChangeAspect="1"/>
          </p:cNvPicPr>
          <p:nvPr/>
        </p:nvPicPr>
        <p:blipFill>
          <a:blip r:embed="rId2"/>
          <a:stretch>
            <a:fillRect/>
          </a:stretch>
        </p:blipFill>
        <p:spPr>
          <a:xfrm>
            <a:off x="548640" y="1188720"/>
            <a:ext cx="1097280" cy="1097280"/>
          </a:xfrm>
          <a:prstGeom prst="rect">
            <a:avLst/>
          </a:prstGeom>
        </p:spPr>
      </p:pic>
      <p:sp>
        <p:nvSpPr>
          <p:cNvPr id="3" name="TextBox 2"/>
          <p:cNvSpPr txBox="1"/>
          <p:nvPr/>
        </p:nvSpPr>
        <p:spPr>
          <a:xfrm>
            <a:off x="548640" y="2560320"/>
            <a:ext cx="10515600" cy="1463040"/>
          </a:xfrm>
          <a:prstGeom prst="rect">
            <a:avLst/>
          </a:prstGeom>
          <a:noFill/>
        </p:spPr>
        <p:txBody>
          <a:bodyPr wrap="square" anchor="t" lIns="0" rIns="0" tIns="0" bIns="0">
            <a:spAutoFit/>
          </a:bodyPr>
          <a:lstStyle/>
          <a:p>
            <a:pPr algn="l">
              <a:lnSpc>
                <a:spcPct val="110000"/>
              </a:lnSpc>
            </a:pPr>
            <a:r>
              <a:rPr sz="3000" b="1" i="0">
                <a:solidFill>
                  <a:srgbClr val="F5F5F7"/>
                </a:solidFill>
                <a:latin typeface="Georgia"/>
              </a:rPr>
              <a:t>An independent, offline research app for the Foreign Relations of the United States series, built on its editors' annotation.</a:t>
            </a:r>
          </a:p>
        </p:txBody>
      </p:sp>
      <p:sp>
        <p:nvSpPr>
          <p:cNvPr id="4" name="TextBox 3"/>
          <p:cNvSpPr txBox="1"/>
          <p:nvPr/>
        </p:nvSpPr>
        <p:spPr>
          <a:xfrm>
            <a:off x="548640" y="4160520"/>
            <a:ext cx="10515600" cy="457200"/>
          </a:xfrm>
          <a:prstGeom prst="rect">
            <a:avLst/>
          </a:prstGeom>
          <a:noFill/>
        </p:spPr>
        <p:txBody>
          <a:bodyPr wrap="square" anchor="t" lIns="0" rIns="0" tIns="0" bIns="0">
            <a:spAutoFit/>
          </a:bodyPr>
          <a:lstStyle/>
          <a:p>
            <a:pPr algn="l"/>
            <a:r>
              <a:rPr sz="2000" b="0" i="0">
                <a:solidFill>
                  <a:srgbClr val="A8A8B0"/>
                </a:solidFill>
                <a:latin typeface="Arial"/>
              </a:rPr>
              <a:t>Coming soon for iPhone, iPad and Mac. Free. A web edition is in development.</a:t>
            </a:r>
          </a:p>
        </p:txBody>
      </p:sp>
      <p:sp>
        <p:nvSpPr>
          <p:cNvPr id="5" name="TextBox 4"/>
          <p:cNvSpPr txBox="1"/>
          <p:nvPr/>
        </p:nvSpPr>
        <p:spPr>
          <a:xfrm>
            <a:off x="548640" y="4892040"/>
            <a:ext cx="10515600" cy="822960"/>
          </a:xfrm>
          <a:prstGeom prst="rect">
            <a:avLst/>
          </a:prstGeom>
          <a:noFill/>
        </p:spPr>
        <p:txBody>
          <a:bodyPr wrap="square" anchor="t" lIns="0" rIns="0" tIns="0" bIns="0">
            <a:spAutoFit/>
          </a:bodyPr>
          <a:lstStyle/>
          <a:p>
            <a:pPr algn="l">
              <a:lnSpc>
                <a:spcPct val="130000"/>
              </a:lnSpc>
            </a:pPr>
            <a:r>
              <a:rPr sz="1300" b="0" i="0">
                <a:solidFill>
                  <a:srgbClr val="E8798A"/>
                </a:solidFill>
                <a:latin typeface="Arial"/>
              </a:rPr>
              <a:t>help@frusexplorer.app · frusexplorer.app/support · github.com/joshbotts/FRUS-Explorer</a:t>
            </a:r>
          </a:p>
        </p:txBody>
      </p:sp>
      <p:sp>
        <p:nvSpPr>
          <p:cNvPr id="6" name="TextBox 5"/>
          <p:cNvSpPr txBox="1"/>
          <p:nvPr/>
        </p:nvSpPr>
        <p:spPr>
          <a:xfrm>
            <a:off x="548640" y="6355080"/>
            <a:ext cx="10545775" cy="365760"/>
          </a:xfrm>
          <a:prstGeom prst="rect">
            <a:avLst/>
          </a:prstGeom>
          <a:noFill/>
        </p:spPr>
        <p:txBody>
          <a:bodyPr wrap="square" anchor="b" lIns="0" rIns="0" tIns="0" bIns="0">
            <a:spAutoFit/>
          </a:bodyPr>
          <a:lstStyle/>
          <a:p>
            <a:pPr algn="l"/>
            <a:r>
              <a:rPr sz="900" b="0" i="0">
                <a:solidFill>
                  <a:srgbClr val="A8A8B0"/>
                </a:solidFill>
                <a:latin typeface="Arial"/>
              </a:rPr>
              <a:t>FRUS Explorer is an independent research tool. It is not an official product of the Office of the Historian or the U.S. Department of State. The FRUS series itself is in the public domain.</a:t>
            </a:r>
          </a:p>
        </p:txBody>
      </p:sp>
      <p:sp>
        <p:nvSpPr>
          <p:cNvPr id="7" name="TextBox 6"/>
          <p:cNvSpPr txBox="1"/>
          <p:nvPr/>
        </p:nvSpPr>
        <p:spPr>
          <a:xfrm>
            <a:off x="11185855" y="6355080"/>
            <a:ext cx="457200" cy="365760"/>
          </a:xfrm>
          <a:prstGeom prst="rect">
            <a:avLst/>
          </a:prstGeom>
          <a:noFill/>
        </p:spPr>
        <p:txBody>
          <a:bodyPr wrap="square" anchor="b" lIns="0" rIns="0" tIns="0" bIns="0">
            <a:spAutoFit/>
          </a:bodyPr>
          <a:lstStyle/>
          <a:p>
            <a:pPr algn="r"/>
            <a:r>
              <a:rPr sz="1000" b="0" i="0">
                <a:solidFill>
                  <a:srgbClr val="A8A8B0"/>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